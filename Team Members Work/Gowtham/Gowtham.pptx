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60" r:id="rId3"/>
    <p:sldId id="287" r:id="rId4"/>
    <p:sldId id="281" r:id="rId5"/>
    <p:sldId id="27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047680-E389-4117-B10A-EDE1E0F936F9}" v="115" dt="2022-04-02T04:21:12.7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43"/>
  </p:normalViewPr>
  <p:slideViewPr>
    <p:cSldViewPr snapToGrid="0" snapToObjects="1">
      <p:cViewPr varScale="1">
        <p:scale>
          <a:sx n="67" d="100"/>
          <a:sy n="67" d="100"/>
        </p:scale>
        <p:origin x="62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8C692-5CE6-0540-AC01-6407800CC529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A6E64-EA6B-144B-94DB-0E60C4F35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015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CE19CD-2A84-A345-96E6-222E4F41D16D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66139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9FE51-C0F1-1D42-B73F-01C09E056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3BDE6-8AFD-BA43-8892-C61848E76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AA151-AEFE-4049-A258-77C6BC0A3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0802E-607A-4749-A61F-4C33EC607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F85DE-C0B9-FE43-91C7-2864AD327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0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DE1AD-CBAA-4848-8B6D-F630CB5C5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3C08F-67AF-964D-AAF9-97DF2FA0E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B1789-0EB2-9D4F-883E-9D2E70E6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52A64-4B0B-984B-B33B-94AD74A3B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4E82B-61DE-AB40-A6AE-48171FB2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73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6729-6AD2-2D43-BF32-7E8CE6875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65BF7-5C67-2F40-9A4A-82348A2FC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DCD2F-98E6-7C43-8636-C16BAC282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9252E-FEB9-BC4F-8922-019C05DC7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F5BB1-3726-6641-9F3F-FD61952E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97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F1C75-D54A-F34F-90AA-C8F7E223F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A77E4-0C1E-284E-8350-6B5721F5D3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A4C5F-ED64-C14B-8E79-E98E9AB2C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ED405B-3ED1-644B-881A-A904ED58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7CB19-2CC8-3E43-8735-849064AB4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4952C-A5E9-8A46-9602-9EAEE2E6C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298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497CC-597B-7A45-8479-B6A8D9EDF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FE9AD-4AF3-CA49-8CEE-E5ECFAA97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0ACDE-ACC3-484B-8188-3344B3AA2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288EBF-F9C4-5345-891A-B8D0E9BA08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18E19B-E311-AD43-96E0-F990D73E9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37C03E-B4DC-B84B-8F32-81AD6FEFA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8CCF3-6249-6B4C-9F2C-B8220B10F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27DBEF-6C3E-4F49-9AA9-25F4D0ED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564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80A4-22BE-CE4B-951C-84E43A2E7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BEFA9F-094E-844B-B146-8018F693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FBAB-9B6B-0949-9413-A1D5C8A4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201D0C-DEDF-3241-8D56-0ED8CDAD0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51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7D4AEA-FB49-7B43-A8D7-6DCF73EFE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7AC87A-8233-904A-A4C3-21F62EFC5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4D83F-9E9B-E043-9925-EBB71DF74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2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D7D2E-15DA-B947-92C8-70EEEE0F9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C49B2-A0AE-7645-9237-C8AF57CFA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40312-3DC8-8D47-954C-B69B786A1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1554B-7E8D-A54F-88D7-3B30BEB02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6C95B-2886-EB4E-97CA-32B86F5C9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A6FED-D869-C24C-8B4D-4456F05AA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3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B0C29-15B3-424F-A769-6E769220E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F0A53-30F9-4F42-B64F-B1966DFA3B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56C46-EF1B-1044-B8AE-83D3BD059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06D8C-0F07-DF4C-9B42-7064FE34E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D546B-1409-A546-9DFF-21B5927DE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77FE8-33EA-534A-877C-6CE61FA85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08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B5113-E3D8-E842-959C-CF47E210B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52F2F-3041-7745-BDA1-2799FA038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B9BE6-ADE0-C14E-BFC4-211E7F3F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CB5B5-61B2-6641-A7FE-0503903E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AA36F-D4C5-D94B-8C7C-512C1797C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04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92F32-EECC-6448-910E-1CB6BB32FA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55B58-155A-A745-86A5-20ECD92BE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7ABDB-F7F7-874C-85C4-6D6BEDBAB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21BF4-A480-E54F-9C7F-1BF4FACD3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F0CDB-457D-2048-AE68-D461B472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12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10">
            <a:extLst>
              <a:ext uri="{FF2B5EF4-FFF2-40B4-BE49-F238E27FC236}">
                <a16:creationId xmlns:a16="http://schemas.microsoft.com/office/drawing/2014/main" id="{81B15575-45F3-B945-95AE-F5EA7EEB2382}"/>
              </a:ext>
            </a:extLst>
          </p:cNvPr>
          <p:cNvSpPr/>
          <p:nvPr userDrawn="1"/>
        </p:nvSpPr>
        <p:spPr>
          <a:xfrm>
            <a:off x="3870251" y="0"/>
            <a:ext cx="8321749" cy="6858000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469" tIns="30235" rIns="60469" bIns="30235" rtlCol="0" anchor="ctr"/>
          <a:lstStyle/>
          <a:p>
            <a:pPr algn="ctr"/>
            <a:endParaRPr lang="pl-PL" sz="12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9E4161-4A00-5044-9128-8CF67E3115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49165" y="5940036"/>
            <a:ext cx="3061754" cy="493831"/>
          </a:xfrm>
          <a:prstGeom prst="rect">
            <a:avLst/>
          </a:prstGeom>
        </p:spPr>
      </p:pic>
      <p:sp>
        <p:nvSpPr>
          <p:cNvPr id="15" name="Title 7"/>
          <p:cNvSpPr>
            <a:spLocks noGrp="1"/>
          </p:cNvSpPr>
          <p:nvPr>
            <p:ph type="title" hasCustomPrompt="1"/>
          </p:nvPr>
        </p:nvSpPr>
        <p:spPr>
          <a:xfrm>
            <a:off x="4852727" y="1392762"/>
            <a:ext cx="6304549" cy="1716778"/>
          </a:xfrm>
          <a:prstGeom prst="rect">
            <a:avLst/>
          </a:prstGeom>
          <a:noFill/>
        </p:spPr>
        <p:txBody>
          <a:bodyPr wrap="square" lIns="90704" tIns="45352" rIns="90704" bIns="45352" rtlCol="0" anchor="ctr" anchorCtr="0">
            <a:spAutoFit/>
          </a:bodyPr>
          <a:lstStyle>
            <a:lvl1pPr algn="ctr">
              <a:defRPr lang="uk-UA" sz="5867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marL="0" lvl="0"/>
            <a:r>
              <a:rPr lang="pl-PL" dirty="0"/>
              <a:t>Presentation t</a:t>
            </a:r>
            <a:r>
              <a:rPr lang="en-US" dirty="0" err="1"/>
              <a:t>itle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goes here</a:t>
            </a:r>
            <a:endParaRPr lang="uk-UA" dirty="0"/>
          </a:p>
        </p:txBody>
      </p:sp>
      <p:sp>
        <p:nvSpPr>
          <p:cNvPr id="21" name="Symbol zastępczy tekstu 20"/>
          <p:cNvSpPr>
            <a:spLocks noGrp="1"/>
          </p:cNvSpPr>
          <p:nvPr>
            <p:ph type="body" sz="quarter" idx="13" hasCustomPrompt="1"/>
          </p:nvPr>
        </p:nvSpPr>
        <p:spPr>
          <a:xfrm>
            <a:off x="6316701" y="3628193"/>
            <a:ext cx="3304117" cy="1411816"/>
          </a:xfrm>
          <a:prstGeom prst="rect">
            <a:avLst/>
          </a:prstGeom>
        </p:spPr>
        <p:txBody>
          <a:bodyPr lIns="90704" tIns="45352" rIns="90704" bIns="45352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  <a:lvl2pPr marL="453541" indent="0">
              <a:buFontTx/>
              <a:buNone/>
              <a:defRPr sz="2933" baseline="0">
                <a:solidFill>
                  <a:schemeClr val="tx2"/>
                </a:solidFill>
              </a:defRPr>
            </a:lvl2pPr>
            <a:lvl3pPr marL="907083" indent="0">
              <a:buFontTx/>
              <a:buNone/>
              <a:defRPr sz="2933" baseline="0">
                <a:solidFill>
                  <a:schemeClr val="tx2"/>
                </a:solidFill>
              </a:defRPr>
            </a:lvl3pPr>
            <a:lvl4pPr marL="1360625" indent="0">
              <a:buFontTx/>
              <a:buNone/>
              <a:defRPr sz="2933" baseline="0">
                <a:solidFill>
                  <a:schemeClr val="tx2"/>
                </a:solidFill>
              </a:defRPr>
            </a:lvl4pPr>
            <a:lvl5pPr marL="1814167" indent="0">
              <a:buFontTx/>
              <a:buNone/>
              <a:defRPr sz="2933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l-PL" dirty="0" err="1"/>
              <a:t>Date</a:t>
            </a:r>
            <a:r>
              <a:rPr lang="pl-PL" dirty="0"/>
              <a:t> </a:t>
            </a:r>
            <a:r>
              <a:rPr lang="pl-PL" dirty="0" err="1"/>
              <a:t>goes</a:t>
            </a:r>
            <a:r>
              <a:rPr lang="pl-PL" dirty="0"/>
              <a:t> </a:t>
            </a:r>
            <a:r>
              <a:rPr lang="pl-PL" dirty="0" err="1"/>
              <a:t>here</a:t>
            </a:r>
            <a:endParaRPr lang="pl-PL" dirty="0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22A9AAEC-2B60-954B-96DD-3A14026F32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870325" cy="6858000"/>
          </a:xfrm>
          <a:prstGeom prst="rect">
            <a:avLst/>
          </a:prstGeom>
        </p:spPr>
        <p:txBody>
          <a:bodyPr lIns="90704" tIns="45352" rIns="90704" bIns="45352"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7059411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MPTY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7">
            <a:extLst>
              <a:ext uri="{FF2B5EF4-FFF2-40B4-BE49-F238E27FC236}">
                <a16:creationId xmlns:a16="http://schemas.microsoft.com/office/drawing/2014/main" id="{DCB63A60-0A2F-DB4D-B049-C7C4FF8ED2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397" y="546557"/>
            <a:ext cx="10645935" cy="507088"/>
          </a:xfrm>
          <a:prstGeom prst="rect">
            <a:avLst/>
          </a:prstGeom>
          <a:noFill/>
        </p:spPr>
        <p:txBody>
          <a:bodyPr wrap="square" lIns="90704" tIns="45352" rIns="90704" bIns="45352" rtlCol="0" anchor="ctr" anchorCtr="0">
            <a:spAutoFit/>
          </a:bodyPr>
          <a:lstStyle>
            <a:lvl1pPr>
              <a:defRPr lang="uk-UA" sz="3000" b="1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marL="0" lvl="0"/>
            <a:r>
              <a:rPr lang="en-US" dirty="0"/>
              <a:t>Title goes here</a:t>
            </a:r>
            <a:endParaRPr lang="uk-UA" dirty="0"/>
          </a:p>
        </p:txBody>
      </p:sp>
      <p:cxnSp>
        <p:nvCxnSpPr>
          <p:cNvPr id="13" name="Straight Connector 1">
            <a:extLst>
              <a:ext uri="{FF2B5EF4-FFF2-40B4-BE49-F238E27FC236}">
                <a16:creationId xmlns:a16="http://schemas.microsoft.com/office/drawing/2014/main" id="{CACEC802-F2DC-9F49-B96D-08F142BA932A}"/>
              </a:ext>
            </a:extLst>
          </p:cNvPr>
          <p:cNvCxnSpPr/>
          <p:nvPr userDrawn="1"/>
        </p:nvCxnSpPr>
        <p:spPr>
          <a:xfrm>
            <a:off x="469901" y="457200"/>
            <a:ext cx="0" cy="685800"/>
          </a:xfrm>
          <a:prstGeom prst="line">
            <a:avLst/>
          </a:prstGeom>
          <a:ln w="63500">
            <a:solidFill>
              <a:srgbClr val="81509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4">
            <a:extLst>
              <a:ext uri="{FF2B5EF4-FFF2-40B4-BE49-F238E27FC236}">
                <a16:creationId xmlns:a16="http://schemas.microsoft.com/office/drawing/2014/main" id="{53F1C73B-9C31-DB47-9899-36D06AE8543C}"/>
              </a:ext>
            </a:extLst>
          </p:cNvPr>
          <p:cNvCxnSpPr/>
          <p:nvPr userDrawn="1"/>
        </p:nvCxnSpPr>
        <p:spPr>
          <a:xfrm>
            <a:off x="469901" y="6124657"/>
            <a:ext cx="0" cy="495300"/>
          </a:xfrm>
          <a:prstGeom prst="line">
            <a:avLst/>
          </a:prstGeom>
          <a:ln w="63500">
            <a:solidFill>
              <a:srgbClr val="81509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45F9D735-6908-534F-80BC-360625B39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3053" y="6124657"/>
            <a:ext cx="1604152" cy="483664"/>
          </a:xfrm>
          <a:prstGeom prst="rect">
            <a:avLst/>
          </a:prstGeom>
        </p:spPr>
      </p:pic>
      <p:sp>
        <p:nvSpPr>
          <p:cNvPr id="21" name="Prostokąt 6">
            <a:extLst>
              <a:ext uri="{FF2B5EF4-FFF2-40B4-BE49-F238E27FC236}">
                <a16:creationId xmlns:a16="http://schemas.microsoft.com/office/drawing/2014/main" id="{53E3127C-A33F-8C40-A146-CFE425A7D5CC}"/>
              </a:ext>
            </a:extLst>
          </p:cNvPr>
          <p:cNvSpPr/>
          <p:nvPr userDrawn="1"/>
        </p:nvSpPr>
        <p:spPr>
          <a:xfrm>
            <a:off x="11718789" y="0"/>
            <a:ext cx="473211" cy="6858000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469" tIns="30235" rIns="60469" bIns="30235" rtlCol="0" anchor="ctr"/>
          <a:lstStyle/>
          <a:p>
            <a:pPr algn="ctr"/>
            <a:endParaRPr lang="pl-PL" sz="1200"/>
          </a:p>
        </p:txBody>
      </p:sp>
      <p:pic>
        <p:nvPicPr>
          <p:cNvPr id="22" name="Obraz 9">
            <a:extLst>
              <a:ext uri="{FF2B5EF4-FFF2-40B4-BE49-F238E27FC236}">
                <a16:creationId xmlns:a16="http://schemas.microsoft.com/office/drawing/2014/main" id="{EB4B66BA-85FB-2740-B8B5-E4B5CD2A30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0730" y="200665"/>
            <a:ext cx="342333" cy="37714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61A9943-D89F-864D-B1A2-49D9072963BA}"/>
              </a:ext>
            </a:extLst>
          </p:cNvPr>
          <p:cNvSpPr/>
          <p:nvPr userDrawn="1"/>
        </p:nvSpPr>
        <p:spPr>
          <a:xfrm>
            <a:off x="11770366" y="6354321"/>
            <a:ext cx="404248" cy="348383"/>
          </a:xfrm>
          <a:prstGeom prst="rect">
            <a:avLst/>
          </a:prstGeom>
        </p:spPr>
        <p:txBody>
          <a:bodyPr wrap="none" lIns="60469" tIns="30235" rIns="60469" bIns="30235">
            <a:spAutoFit/>
          </a:bodyPr>
          <a:lstStyle/>
          <a:p>
            <a:fld id="{E5B4EB64-54DE-40F8-9354-51A55C032A93}" type="slidenum">
              <a:rPr lang="pl-PL" sz="1867" b="1" smtClean="0">
                <a:solidFill>
                  <a:schemeClr val="bg1"/>
                </a:solidFill>
              </a:rPr>
              <a:pPr/>
              <a:t>‹#›</a:t>
            </a:fld>
            <a:endParaRPr lang="pl-PL" sz="1200"/>
          </a:p>
        </p:txBody>
      </p:sp>
    </p:spTree>
    <p:extLst>
      <p:ext uri="{BB962C8B-B14F-4D97-AF65-F5344CB8AC3E}">
        <p14:creationId xmlns:p14="http://schemas.microsoft.com/office/powerpoint/2010/main" val="20543448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rostokąt 10">
            <a:extLst>
              <a:ext uri="{FF2B5EF4-FFF2-40B4-BE49-F238E27FC236}">
                <a16:creationId xmlns:a16="http://schemas.microsoft.com/office/drawing/2014/main" id="{8B9F059C-04F3-8746-914A-2F23F849AB26}"/>
              </a:ext>
            </a:extLst>
          </p:cNvPr>
          <p:cNvSpPr/>
          <p:nvPr/>
        </p:nvSpPr>
        <p:spPr>
          <a:xfrm>
            <a:off x="1" y="0"/>
            <a:ext cx="7088373" cy="6858000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469" tIns="30235" rIns="60469" bIns="30235" rtlCol="0" anchor="ctr"/>
          <a:lstStyle/>
          <a:p>
            <a:pPr algn="ctr"/>
            <a:endParaRPr lang="pl-PL" sz="1200"/>
          </a:p>
        </p:txBody>
      </p:sp>
      <p:sp>
        <p:nvSpPr>
          <p:cNvPr id="34" name="Picture Placeholder 38">
            <a:extLst>
              <a:ext uri="{FF2B5EF4-FFF2-40B4-BE49-F238E27FC236}">
                <a16:creationId xmlns:a16="http://schemas.microsoft.com/office/drawing/2014/main" id="{C3DEE2CE-5ADA-914A-A6D4-402AC05FF6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88372" y="0"/>
            <a:ext cx="5103629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pl-PL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D5E7584-F5F1-A84A-8BA2-03533636A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972" y="5130009"/>
            <a:ext cx="3816431" cy="615554"/>
          </a:xfrm>
          <a:prstGeom prst="rect">
            <a:avLst/>
          </a:prstGeom>
        </p:spPr>
      </p:pic>
      <p:sp>
        <p:nvSpPr>
          <p:cNvPr id="28" name="pole tekstowe 1">
            <a:extLst>
              <a:ext uri="{FF2B5EF4-FFF2-40B4-BE49-F238E27FC236}">
                <a16:creationId xmlns:a16="http://schemas.microsoft.com/office/drawing/2014/main" id="{1EBCD86C-CC45-DE44-BB25-964DCBBDDEA4}"/>
              </a:ext>
            </a:extLst>
          </p:cNvPr>
          <p:cNvSpPr txBox="1"/>
          <p:nvPr/>
        </p:nvSpPr>
        <p:spPr>
          <a:xfrm>
            <a:off x="2125234" y="1944817"/>
            <a:ext cx="3303045" cy="738169"/>
          </a:xfrm>
          <a:prstGeom prst="rect">
            <a:avLst/>
          </a:prstGeom>
          <a:noFill/>
        </p:spPr>
        <p:txBody>
          <a:bodyPr wrap="square" lIns="60469" tIns="30235" rIns="60469" bIns="30235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  <a:latin typeface="+mj-lt"/>
              </a:rPr>
              <a:t>Thank you</a:t>
            </a:r>
            <a:endParaRPr lang="pl-PL" sz="4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9" name="pole tekstowe 1">
            <a:extLst>
              <a:ext uri="{FF2B5EF4-FFF2-40B4-BE49-F238E27FC236}">
                <a16:creationId xmlns:a16="http://schemas.microsoft.com/office/drawing/2014/main" id="{C8ECBCAB-DBDC-2F41-A995-8A39A948BEC0}"/>
              </a:ext>
            </a:extLst>
          </p:cNvPr>
          <p:cNvSpPr txBox="1"/>
          <p:nvPr/>
        </p:nvSpPr>
        <p:spPr>
          <a:xfrm>
            <a:off x="2141543" y="2565005"/>
            <a:ext cx="3779161" cy="604927"/>
          </a:xfrm>
          <a:prstGeom prst="rect">
            <a:avLst/>
          </a:prstGeom>
          <a:noFill/>
        </p:spPr>
        <p:txBody>
          <a:bodyPr wrap="square" lIns="60469" tIns="30235" rIns="60469" bIns="30235" rtlCol="0">
            <a:spAutoFit/>
          </a:bodyPr>
          <a:lstStyle/>
          <a:p>
            <a:r>
              <a:rPr lang="pl-PL" sz="3534">
                <a:solidFill>
                  <a:schemeClr val="bg1"/>
                </a:solidFill>
              </a:rPr>
              <a:t>for </a:t>
            </a:r>
            <a:r>
              <a:rPr lang="pl-PL" sz="3534" err="1">
                <a:solidFill>
                  <a:schemeClr val="bg1"/>
                </a:solidFill>
              </a:rPr>
              <a:t>your</a:t>
            </a:r>
            <a:r>
              <a:rPr lang="pl-PL" sz="3534">
                <a:solidFill>
                  <a:schemeClr val="bg1"/>
                </a:solidFill>
              </a:rPr>
              <a:t> </a:t>
            </a:r>
            <a:r>
              <a:rPr lang="pl-PL" sz="3534" err="1">
                <a:solidFill>
                  <a:schemeClr val="bg1"/>
                </a:solidFill>
              </a:rPr>
              <a:t>time</a:t>
            </a:r>
            <a:endParaRPr lang="pl-PL" sz="3534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87458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4BE92-389B-0341-B6CB-DFC753196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CFD36-B6E1-3D46-871A-AE04116A7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4BFA8-1493-1B43-A896-2DD3D63C9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602DB-A231-A441-8A07-2D9F5DA837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D0E97-533E-584C-B315-8B57D7564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62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2611" y="1421310"/>
            <a:ext cx="7876673" cy="1712033"/>
          </a:xfrm>
        </p:spPr>
        <p:txBody>
          <a:bodyPr/>
          <a:lstStyle/>
          <a:p>
            <a:r>
              <a:rPr lang="en-US" sz="5850" dirty="0">
                <a:latin typeface="Calibri"/>
                <a:cs typeface="Calibri"/>
              </a:rPr>
              <a:t>WEB REQUEST LIFE CYCLE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512A67-BBF9-3B33-13AC-E7F94BF8E0BA}"/>
              </a:ext>
            </a:extLst>
          </p:cNvPr>
          <p:cNvSpPr txBox="1"/>
          <p:nvPr/>
        </p:nvSpPr>
        <p:spPr>
          <a:xfrm>
            <a:off x="746927" y="171826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GOWTHAM R </a:t>
            </a:r>
          </a:p>
        </p:txBody>
      </p:sp>
    </p:spTree>
    <p:extLst>
      <p:ext uri="{BB962C8B-B14F-4D97-AF65-F5344CB8AC3E}">
        <p14:creationId xmlns:p14="http://schemas.microsoft.com/office/powerpoint/2010/main" val="302796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197" y="609626"/>
            <a:ext cx="10645935" cy="497791"/>
          </a:xfrm>
        </p:spPr>
        <p:txBody>
          <a:bodyPr/>
          <a:lstStyle/>
          <a:p>
            <a:r>
              <a:rPr lang="en-US" sz="2933" dirty="0"/>
              <a:t>Activity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752555-C461-EEBD-4A53-979AA2549700}"/>
              </a:ext>
            </a:extLst>
          </p:cNvPr>
          <p:cNvSpPr txBox="1"/>
          <p:nvPr/>
        </p:nvSpPr>
        <p:spPr>
          <a:xfrm>
            <a:off x="635620" y="1388327"/>
            <a:ext cx="971271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Step 1: Your PC or device is connected to the web through a modem or router. Together, these devices allow you to connect to other networks around the globe . Your router enables multiple computers to join the same network while a modem connects to your ISP (Internet Service Provider) which provides you with either cable or DSL internet.</a:t>
            </a:r>
          </a:p>
          <a:p>
            <a:endParaRPr lang="en-US" dirty="0"/>
          </a:p>
          <a:p>
            <a:r>
              <a:rPr lang="en-US" dirty="0"/>
              <a:t> Step 2: Type in a web address, known as a URL (Uniform Resource Locator). Each website has its own unique URL that signals to your ISP where you want to go.</a:t>
            </a:r>
            <a:endParaRPr lang="en-US" dirty="0">
              <a:cs typeface="Calibri"/>
            </a:endParaRPr>
          </a:p>
          <a:p>
            <a:endParaRPr lang="en-US" dirty="0"/>
          </a:p>
          <a:p>
            <a:r>
              <a:rPr lang="en-US" dirty="0"/>
              <a:t> Step 3: Your query is pushed to your ISP which connects to several servers which store and send data like a NAP Server (Network Access Protection) and a DNS (Domain Name Server). Next, your browser looks up the IP address for the domain name you typed into your search engine through DNS. DNS then translates the text-based domain name you type into the browser into the number-based IP address. Example: Google.com becomes 64.233.191.255</a:t>
            </a:r>
            <a:endParaRPr lang="en-US" dirty="0">
              <a:cs typeface="Calibri"/>
            </a:endParaRP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688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C7BD-6F2F-5143-A996-D01CBF631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51" y="678366"/>
            <a:ext cx="10645935" cy="950286"/>
          </a:xfrm>
        </p:spPr>
        <p:txBody>
          <a:bodyPr/>
          <a:lstStyle/>
          <a:p>
            <a:br>
              <a:rPr lang="en-US" sz="3200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B10F72-F10D-E772-5714-E7BEA7925E19}"/>
              </a:ext>
            </a:extLst>
          </p:cNvPr>
          <p:cNvSpPr txBox="1"/>
          <p:nvPr/>
        </p:nvSpPr>
        <p:spPr>
          <a:xfrm>
            <a:off x="700669" y="1323279"/>
            <a:ext cx="10363199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Step 4: Your browser sends a Hypertext Transfer Protocol (HTTP) request to the target server to send a copy of the website to the client using TCP/IP. </a:t>
            </a:r>
          </a:p>
          <a:p>
            <a:endParaRPr lang="en-US" dirty="0"/>
          </a:p>
          <a:p>
            <a:r>
              <a:rPr lang="en-US" dirty="0"/>
              <a:t>Step 5: The server then approves request and sends a “200 OK” message to your computer. Then, the server sends website files to the browser in the form of data packets. </a:t>
            </a:r>
          </a:p>
          <a:p>
            <a:endParaRPr lang="en-US" dirty="0"/>
          </a:p>
          <a:p>
            <a:r>
              <a:rPr lang="en-US" dirty="0"/>
              <a:t>Step 6: As your browser reassembles the data packets, the website loads allowing you to learn, shop, browse, and engage. </a:t>
            </a:r>
            <a:endParaRPr lang="en-US"/>
          </a:p>
          <a:p>
            <a:endParaRPr lang="en-US" dirty="0">
              <a:cs typeface="Calibri"/>
            </a:endParaRPr>
          </a:p>
          <a:p>
            <a:r>
              <a:rPr lang="en-US" dirty="0"/>
              <a:t>Step 7: Enjoy your search results!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8482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C7BD-6F2F-5143-A996-D01CBF631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032" y="425297"/>
            <a:ext cx="10645935" cy="950286"/>
          </a:xfrm>
        </p:spPr>
        <p:txBody>
          <a:bodyPr/>
          <a:lstStyle/>
          <a:p>
            <a:br>
              <a:rPr lang="en-US" sz="3200" dirty="0"/>
            </a:br>
            <a:endParaRPr lang="en-US" dirty="0"/>
          </a:p>
        </p:txBody>
      </p:sp>
      <p:pic>
        <p:nvPicPr>
          <p:cNvPr id="3" name="Picture 3" descr="Shape&#10;&#10;Description automatically generated">
            <a:extLst>
              <a:ext uri="{FF2B5EF4-FFF2-40B4-BE49-F238E27FC236}">
                <a16:creationId xmlns:a16="http://schemas.microsoft.com/office/drawing/2014/main" id="{EFF16D3E-603D-3015-FE09-2730B18F1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889" y="1027014"/>
            <a:ext cx="9461808" cy="485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930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98" r="2229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72584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126</Words>
  <Application>Microsoft Office PowerPoint</Application>
  <PresentationFormat>Widescreen</PresentationFormat>
  <Paragraphs>14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WEB REQUEST LIFE CYCLE</vt:lpstr>
      <vt:lpstr>Activity</vt:lpstr>
      <vt:lpstr> </vt:lpstr>
      <vt:lpstr>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Synergy</dc:title>
  <dc:creator>Hemalatha Manu Anand</dc:creator>
  <cp:lastModifiedBy>Snigdha Agarwal</cp:lastModifiedBy>
  <cp:revision>38</cp:revision>
  <dcterms:created xsi:type="dcterms:W3CDTF">2020-06-30T04:13:35Z</dcterms:created>
  <dcterms:modified xsi:type="dcterms:W3CDTF">2022-04-02T04:22:23Z</dcterms:modified>
</cp:coreProperties>
</file>