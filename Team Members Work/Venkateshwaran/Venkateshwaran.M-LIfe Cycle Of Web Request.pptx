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260" r:id="rId3"/>
    <p:sldId id="279" r:id="rId4"/>
    <p:sldId id="293" r:id="rId5"/>
    <p:sldId id="291" r:id="rId6"/>
    <p:sldId id="278" r:id="rId7"/>
    <p:sldId id="281" r:id="rId8"/>
    <p:sldId id="282" r:id="rId9"/>
    <p:sldId id="286" r:id="rId10"/>
    <p:sldId id="288" r:id="rId11"/>
    <p:sldId id="289" r:id="rId12"/>
    <p:sldId id="290" r:id="rId13"/>
    <p:sldId id="292" r:id="rId14"/>
    <p:sldId id="287"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5AA5"/>
    <a:srgbClr val="865A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43"/>
  </p:normalViewPr>
  <p:slideViewPr>
    <p:cSldViewPr snapToGrid="0" snapToObjects="1">
      <p:cViewPr varScale="1">
        <p:scale>
          <a:sx n="107" d="100"/>
          <a:sy n="107" d="100"/>
        </p:scale>
        <p:origin x="245"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8C692-5CE6-0540-AC01-6407800CC529}" type="datetimeFigureOut">
              <a:rPr lang="en-US" smtClean="0"/>
              <a:t>01-Apr-22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A6E64-EA6B-144B-94DB-0E60C4F35858}" type="slidenum">
              <a:rPr lang="en-US" smtClean="0"/>
              <a:t>‹#›</a:t>
            </a:fld>
            <a:endParaRPr lang="en-US"/>
          </a:p>
        </p:txBody>
      </p:sp>
    </p:spTree>
    <p:extLst>
      <p:ext uri="{BB962C8B-B14F-4D97-AF65-F5344CB8AC3E}">
        <p14:creationId xmlns:p14="http://schemas.microsoft.com/office/powerpoint/2010/main" val="5560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2CE19CD-2A84-A345-96E6-222E4F41D16D}" type="slidenum">
              <a:rPr lang="pl-PL" smtClean="0"/>
              <a:t>2</a:t>
            </a:fld>
            <a:endParaRPr lang="pl-PL"/>
          </a:p>
        </p:txBody>
      </p:sp>
    </p:spTree>
    <p:extLst>
      <p:ext uri="{BB962C8B-B14F-4D97-AF65-F5344CB8AC3E}">
        <p14:creationId xmlns:p14="http://schemas.microsoft.com/office/powerpoint/2010/main" val="2566139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is</a:t>
            </a:r>
            <a:r>
              <a:rPr lang="en-US" b="0" baseline="0" dirty="0"/>
              <a:t> only for the trainer… You can display the poll from GTM and after the poll is taken, share the result, connect the poll result with the topic. Once done, you can hide the poll so that the PPT is visible. </a:t>
            </a:r>
          </a:p>
          <a:p>
            <a:endParaRPr lang="en-US" b="0" baseline="0" dirty="0"/>
          </a:p>
          <a:p>
            <a:r>
              <a:rPr lang="en-US" b="0" baseline="0" dirty="0"/>
              <a:t>I have created the poll in the GTM webinar.</a:t>
            </a:r>
            <a:endParaRPr lang="en-US" b="0" dirty="0"/>
          </a:p>
        </p:txBody>
      </p:sp>
      <p:sp>
        <p:nvSpPr>
          <p:cNvPr id="4" name="Slide Number Placeholder 3"/>
          <p:cNvSpPr>
            <a:spLocks noGrp="1"/>
          </p:cNvSpPr>
          <p:nvPr>
            <p:ph type="sldNum" sz="quarter" idx="10"/>
          </p:nvPr>
        </p:nvSpPr>
        <p:spPr/>
        <p:txBody>
          <a:bodyPr/>
          <a:lstStyle/>
          <a:p>
            <a:fld id="{D2CE19CD-2A84-A345-96E6-222E4F41D16D}" type="slidenum">
              <a:rPr lang="pl-PL" smtClean="0"/>
              <a:t>3</a:t>
            </a:fld>
            <a:endParaRPr lang="pl-PL"/>
          </a:p>
        </p:txBody>
      </p:sp>
    </p:spTree>
    <p:extLst>
      <p:ext uri="{BB962C8B-B14F-4D97-AF65-F5344CB8AC3E}">
        <p14:creationId xmlns:p14="http://schemas.microsoft.com/office/powerpoint/2010/main" val="2169763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2CE19CD-2A84-A345-96E6-222E4F41D16D}" type="slidenum">
              <a:rPr lang="pl-PL" smtClean="0"/>
              <a:t>6</a:t>
            </a:fld>
            <a:endParaRPr lang="pl-PL"/>
          </a:p>
        </p:txBody>
      </p:sp>
    </p:spTree>
    <p:extLst>
      <p:ext uri="{BB962C8B-B14F-4D97-AF65-F5344CB8AC3E}">
        <p14:creationId xmlns:p14="http://schemas.microsoft.com/office/powerpoint/2010/main" val="2222335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is</a:t>
            </a:r>
            <a:r>
              <a:rPr lang="en-US" b="0" baseline="0" dirty="0"/>
              <a:t> only for the trainer… You can display the poll from GTM and after the poll is taken, share the result, connect the poll result with the topic. Once done, you can hide the poll so that the PPT is visible. </a:t>
            </a:r>
          </a:p>
          <a:p>
            <a:endParaRPr lang="en-US" b="0" baseline="0" dirty="0"/>
          </a:p>
          <a:p>
            <a:r>
              <a:rPr lang="en-US" b="0" baseline="0" dirty="0"/>
              <a:t>I have created the poll in the GTM webinar.</a:t>
            </a:r>
            <a:endParaRPr lang="en-US" b="0" dirty="0"/>
          </a:p>
        </p:txBody>
      </p:sp>
      <p:sp>
        <p:nvSpPr>
          <p:cNvPr id="4" name="Slide Number Placeholder 3"/>
          <p:cNvSpPr>
            <a:spLocks noGrp="1"/>
          </p:cNvSpPr>
          <p:nvPr>
            <p:ph type="sldNum" sz="quarter" idx="10"/>
          </p:nvPr>
        </p:nvSpPr>
        <p:spPr/>
        <p:txBody>
          <a:bodyPr/>
          <a:lstStyle/>
          <a:p>
            <a:fld id="{D2CE19CD-2A84-A345-96E6-222E4F41D16D}" type="slidenum">
              <a:rPr lang="pl-PL" smtClean="0"/>
              <a:t>9</a:t>
            </a:fld>
            <a:endParaRPr lang="pl-PL"/>
          </a:p>
        </p:txBody>
      </p:sp>
    </p:spTree>
    <p:extLst>
      <p:ext uri="{BB962C8B-B14F-4D97-AF65-F5344CB8AC3E}">
        <p14:creationId xmlns:p14="http://schemas.microsoft.com/office/powerpoint/2010/main" val="3245407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is</a:t>
            </a:r>
            <a:r>
              <a:rPr lang="en-US" b="0" baseline="0" dirty="0"/>
              <a:t> only for the trainer… You can display the poll from GTM and after the poll is taken, share the result, connect the poll result with the topic. Once done, you can hide the poll so that the PPT is visible. </a:t>
            </a:r>
          </a:p>
          <a:p>
            <a:endParaRPr lang="en-US" b="0" baseline="0" dirty="0"/>
          </a:p>
          <a:p>
            <a:r>
              <a:rPr lang="en-US" b="0" baseline="0" dirty="0"/>
              <a:t>I have created the poll in the GTM webinar.</a:t>
            </a:r>
            <a:endParaRPr lang="en-US" b="0" dirty="0"/>
          </a:p>
        </p:txBody>
      </p:sp>
      <p:sp>
        <p:nvSpPr>
          <p:cNvPr id="4" name="Slide Number Placeholder 3"/>
          <p:cNvSpPr>
            <a:spLocks noGrp="1"/>
          </p:cNvSpPr>
          <p:nvPr>
            <p:ph type="sldNum" sz="quarter" idx="10"/>
          </p:nvPr>
        </p:nvSpPr>
        <p:spPr/>
        <p:txBody>
          <a:bodyPr/>
          <a:lstStyle/>
          <a:p>
            <a:fld id="{D2CE19CD-2A84-A345-96E6-222E4F41D16D}" type="slidenum">
              <a:rPr lang="pl-PL" smtClean="0"/>
              <a:t>10</a:t>
            </a:fld>
            <a:endParaRPr lang="pl-PL"/>
          </a:p>
        </p:txBody>
      </p:sp>
    </p:spTree>
    <p:extLst>
      <p:ext uri="{BB962C8B-B14F-4D97-AF65-F5344CB8AC3E}">
        <p14:creationId xmlns:p14="http://schemas.microsoft.com/office/powerpoint/2010/main" val="2716107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FE51-C0F1-1D42-B73F-01C09E056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3BDE6-8AFD-BA43-8892-C61848E76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5AA151-AEFE-4049-A258-77C6BC0A3F4F}"/>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5" name="Footer Placeholder 4">
            <a:extLst>
              <a:ext uri="{FF2B5EF4-FFF2-40B4-BE49-F238E27FC236}">
                <a16:creationId xmlns:a16="http://schemas.microsoft.com/office/drawing/2014/main" id="{66C0802E-607A-4749-A61F-4C33EC607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3F85DE-C0B9-FE43-91C7-2864AD32782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39398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E1AD-CBAA-4848-8B6D-F630CB5C5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03C08F-67AF-964D-AAF9-97DF2FA0E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B1789-0EB2-9D4F-883E-9D2E70E6FAB6}"/>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5" name="Footer Placeholder 4">
            <a:extLst>
              <a:ext uri="{FF2B5EF4-FFF2-40B4-BE49-F238E27FC236}">
                <a16:creationId xmlns:a16="http://schemas.microsoft.com/office/drawing/2014/main" id="{C2352A64-4B0B-984B-B33B-94AD74A3B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4E82B-61DE-AB40-A6AE-48171FB22491}"/>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390173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6729-6AD2-2D43-BF32-7E8CE6875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065BF7-5C67-2F40-9A4A-82348A2FC1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0DCD2F-98E6-7C43-8636-C16BAC28259C}"/>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5" name="Footer Placeholder 4">
            <a:extLst>
              <a:ext uri="{FF2B5EF4-FFF2-40B4-BE49-F238E27FC236}">
                <a16:creationId xmlns:a16="http://schemas.microsoft.com/office/drawing/2014/main" id="{6B09252E-FEB9-BC4F-8922-019C05DC7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F5BB1-3726-6641-9F3F-FD61952E9E9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022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C75-D54A-F34F-90AA-C8F7E223F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FA77E4-0C1E-284E-8350-6B5721F5D3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3A4C5F-ED64-C14B-8E79-E98E9AB2C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ED405B-3ED1-644B-881A-A904ED584EFD}"/>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6" name="Footer Placeholder 5">
            <a:extLst>
              <a:ext uri="{FF2B5EF4-FFF2-40B4-BE49-F238E27FC236}">
                <a16:creationId xmlns:a16="http://schemas.microsoft.com/office/drawing/2014/main" id="{2EC7CB19-2CC8-3E43-8735-849064AB47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4952C-A5E9-8A46-9602-9EAEE2E6CDC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656298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97CC-597B-7A45-8479-B6A8D9EDFF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FE9AD-4AF3-CA49-8CEE-E5ECFAA97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0ACDE-ACC3-484B-8188-3344B3AA2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288EBF-F9C4-5345-891A-B8D0E9BA08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8E19B-E311-AD43-96E0-F990D73E9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C03E-B4DC-B84B-8F32-81AD6FEFA64F}"/>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8" name="Footer Placeholder 7">
            <a:extLst>
              <a:ext uri="{FF2B5EF4-FFF2-40B4-BE49-F238E27FC236}">
                <a16:creationId xmlns:a16="http://schemas.microsoft.com/office/drawing/2014/main" id="{E798CCF3-6249-6B4C-9F2C-B8220B10F2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27DBEF-6C3E-4F49-9AA9-25F4D0ED4DA9}"/>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4156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80A4-22BE-CE4B-951C-84E43A2E72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EFA9F-094E-844B-B146-8018F693941C}"/>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4" name="Footer Placeholder 3">
            <a:extLst>
              <a:ext uri="{FF2B5EF4-FFF2-40B4-BE49-F238E27FC236}">
                <a16:creationId xmlns:a16="http://schemas.microsoft.com/office/drawing/2014/main" id="{D18FFBAB-9B6B-0949-9413-A1D5C8A464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01D0C-DEDF-3241-8D56-0ED8CDAD090D}"/>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12225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D4AEA-FB49-7B43-A8D7-6DCF73EFED98}"/>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3" name="Footer Placeholder 2">
            <a:extLst>
              <a:ext uri="{FF2B5EF4-FFF2-40B4-BE49-F238E27FC236}">
                <a16:creationId xmlns:a16="http://schemas.microsoft.com/office/drawing/2014/main" id="{F87AC87A-8233-904A-A4C3-21F62EFC51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E4D83F-9E9B-E043-9925-EBB71DF7407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863062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7D2E-15DA-B947-92C8-70EEEE0F9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8C49B2-A0AE-7645-9237-C8AF57CFA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40312-3DC8-8D47-954C-B69B786A1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554B-7E8D-A54F-88D7-3B30BEB02C70}"/>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6" name="Footer Placeholder 5">
            <a:extLst>
              <a:ext uri="{FF2B5EF4-FFF2-40B4-BE49-F238E27FC236}">
                <a16:creationId xmlns:a16="http://schemas.microsoft.com/office/drawing/2014/main" id="{52A6C95B-2886-EB4E-97CA-32B86F5C9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A6FED-D869-C24C-8B4D-4456F05AAFA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5123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0C29-15B3-424F-A769-6E769220E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3F0A53-30F9-4F42-B64F-B1966DFA3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556C46-EF1B-1044-B8AE-83D3BD059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06D8C-0F07-DF4C-9B42-7064FE34ED8C}"/>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6" name="Footer Placeholder 5">
            <a:extLst>
              <a:ext uri="{FF2B5EF4-FFF2-40B4-BE49-F238E27FC236}">
                <a16:creationId xmlns:a16="http://schemas.microsoft.com/office/drawing/2014/main" id="{8C2D546B-1409-A546-9DFF-21B5927DE6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77FE8-33EA-534A-877C-6CE61FA85582}"/>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00608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5113-E3D8-E842-959C-CF47E210BD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52F2F-3041-7745-BDA1-2799FA0388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B9BE6-ADE0-C14E-BFC4-211E7F3F76E2}"/>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5" name="Footer Placeholder 4">
            <a:extLst>
              <a:ext uri="{FF2B5EF4-FFF2-40B4-BE49-F238E27FC236}">
                <a16:creationId xmlns:a16="http://schemas.microsoft.com/office/drawing/2014/main" id="{2A3CB5B5-61B2-6641-A7FE-0503903E6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AA36F-D4C5-D94B-8C7C-512C1797CF40}"/>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027504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92F32-EECC-6448-910E-1CB6BB32F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955B58-155A-A745-86A5-20ECD92BE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7ABDB-F7F7-874C-85C4-6D6BEDBABF35}"/>
              </a:ext>
            </a:extLst>
          </p:cNvPr>
          <p:cNvSpPr>
            <a:spLocks noGrp="1"/>
          </p:cNvSpPr>
          <p:nvPr>
            <p:ph type="dt" sz="half" idx="10"/>
          </p:nvPr>
        </p:nvSpPr>
        <p:spPr/>
        <p:txBody>
          <a:bodyPr/>
          <a:lstStyle/>
          <a:p>
            <a:fld id="{1D269190-6A13-034E-92A6-8400565D510F}" type="datetimeFigureOut">
              <a:rPr lang="en-US" smtClean="0"/>
              <a:t>01-Apr-22</a:t>
            </a:fld>
            <a:endParaRPr lang="en-US"/>
          </a:p>
        </p:txBody>
      </p:sp>
      <p:sp>
        <p:nvSpPr>
          <p:cNvPr id="5" name="Footer Placeholder 4">
            <a:extLst>
              <a:ext uri="{FF2B5EF4-FFF2-40B4-BE49-F238E27FC236}">
                <a16:creationId xmlns:a16="http://schemas.microsoft.com/office/drawing/2014/main" id="{15F21BF4-A480-E54F-9C7F-1BF4FACD3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AF0CDB-457D-2048-AE68-D461B4726FA7}"/>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4248912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9" name="Prostokąt 10">
            <a:extLst>
              <a:ext uri="{FF2B5EF4-FFF2-40B4-BE49-F238E27FC236}">
                <a16:creationId xmlns:a16="http://schemas.microsoft.com/office/drawing/2014/main" id="{81B15575-45F3-B945-95AE-F5EA7EEB2382}"/>
              </a:ext>
            </a:extLst>
          </p:cNvPr>
          <p:cNvSpPr/>
          <p:nvPr userDrawn="1"/>
        </p:nvSpPr>
        <p:spPr>
          <a:xfrm>
            <a:off x="3870251" y="0"/>
            <a:ext cx="8321749"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3" name="Picture 2">
            <a:extLst>
              <a:ext uri="{FF2B5EF4-FFF2-40B4-BE49-F238E27FC236}">
                <a16:creationId xmlns:a16="http://schemas.microsoft.com/office/drawing/2014/main" id="{4D9E4161-4A00-5044-9128-8CF67E311575}"/>
              </a:ext>
            </a:extLst>
          </p:cNvPr>
          <p:cNvPicPr>
            <a:picLocks noChangeAspect="1"/>
          </p:cNvPicPr>
          <p:nvPr userDrawn="1"/>
        </p:nvPicPr>
        <p:blipFill>
          <a:blip r:embed="rId2"/>
          <a:stretch>
            <a:fillRect/>
          </a:stretch>
        </p:blipFill>
        <p:spPr>
          <a:xfrm>
            <a:off x="6449165" y="5940036"/>
            <a:ext cx="3061754" cy="493831"/>
          </a:xfrm>
          <a:prstGeom prst="rect">
            <a:avLst/>
          </a:prstGeom>
        </p:spPr>
      </p:pic>
      <p:sp>
        <p:nvSpPr>
          <p:cNvPr id="15" name="Title 7"/>
          <p:cNvSpPr>
            <a:spLocks noGrp="1"/>
          </p:cNvSpPr>
          <p:nvPr>
            <p:ph type="title" hasCustomPrompt="1"/>
          </p:nvPr>
        </p:nvSpPr>
        <p:spPr>
          <a:xfrm>
            <a:off x="4852727" y="1392762"/>
            <a:ext cx="6304549" cy="1716778"/>
          </a:xfrm>
          <a:prstGeom prst="rect">
            <a:avLst/>
          </a:prstGeom>
          <a:noFill/>
        </p:spPr>
        <p:txBody>
          <a:bodyPr wrap="square" lIns="90704" tIns="45352" rIns="90704" bIns="45352" rtlCol="0" anchor="ctr" anchorCtr="0">
            <a:spAutoFit/>
          </a:bodyPr>
          <a:lstStyle>
            <a:lvl1pPr algn="ctr">
              <a:defRPr lang="uk-UA" sz="5867" b="1">
                <a:solidFill>
                  <a:schemeClr val="bg1"/>
                </a:solidFill>
                <a:latin typeface="Calibri" charset="0"/>
                <a:ea typeface="Calibri" charset="0"/>
                <a:cs typeface="Calibri" charset="0"/>
              </a:defRPr>
            </a:lvl1pPr>
          </a:lstStyle>
          <a:p>
            <a:pPr marL="0" lvl="0"/>
            <a:r>
              <a:rPr lang="pl-PL" dirty="0"/>
              <a:t>Presentation t</a:t>
            </a:r>
            <a:r>
              <a:rPr lang="en-US" dirty="0" err="1"/>
              <a:t>itle</a:t>
            </a:r>
            <a:r>
              <a:rPr lang="en-US" dirty="0"/>
              <a:t> </a:t>
            </a:r>
            <a:br>
              <a:rPr lang="en-US" dirty="0"/>
            </a:br>
            <a:r>
              <a:rPr lang="en-US" dirty="0"/>
              <a:t>goes here</a:t>
            </a:r>
            <a:endParaRPr lang="uk-UA" dirty="0"/>
          </a:p>
        </p:txBody>
      </p:sp>
      <p:sp>
        <p:nvSpPr>
          <p:cNvPr id="21" name="Symbol zastępczy tekstu 20"/>
          <p:cNvSpPr>
            <a:spLocks noGrp="1"/>
          </p:cNvSpPr>
          <p:nvPr>
            <p:ph type="body" sz="quarter" idx="13" hasCustomPrompt="1"/>
          </p:nvPr>
        </p:nvSpPr>
        <p:spPr>
          <a:xfrm>
            <a:off x="6316701" y="3628193"/>
            <a:ext cx="3304117" cy="1411816"/>
          </a:xfrm>
          <a:prstGeom prst="rect">
            <a:avLst/>
          </a:prstGeom>
        </p:spPr>
        <p:txBody>
          <a:bodyPr lIns="90704" tIns="45352" rIns="90704" bIns="45352" anchor="ctr" anchorCtr="0"/>
          <a:lstStyle>
            <a:lvl1pPr marL="0" indent="0" algn="ctr">
              <a:buFontTx/>
              <a:buNone/>
              <a:defRPr sz="2400" baseline="0">
                <a:solidFill>
                  <a:schemeClr val="bg1"/>
                </a:solidFill>
              </a:defRPr>
            </a:lvl1pPr>
            <a:lvl2pPr marL="453541" indent="0">
              <a:buFontTx/>
              <a:buNone/>
              <a:defRPr sz="2933" baseline="0">
                <a:solidFill>
                  <a:schemeClr val="tx2"/>
                </a:solidFill>
              </a:defRPr>
            </a:lvl2pPr>
            <a:lvl3pPr marL="907083" indent="0">
              <a:buFontTx/>
              <a:buNone/>
              <a:defRPr sz="2933" baseline="0">
                <a:solidFill>
                  <a:schemeClr val="tx2"/>
                </a:solidFill>
              </a:defRPr>
            </a:lvl3pPr>
            <a:lvl4pPr marL="1360625" indent="0">
              <a:buFontTx/>
              <a:buNone/>
              <a:defRPr sz="2933" baseline="0">
                <a:solidFill>
                  <a:schemeClr val="tx2"/>
                </a:solidFill>
              </a:defRPr>
            </a:lvl4pPr>
            <a:lvl5pPr marL="1814167" indent="0">
              <a:buFontTx/>
              <a:buNone/>
              <a:defRPr sz="2933" baseline="0">
                <a:solidFill>
                  <a:schemeClr val="tx2"/>
                </a:solidFill>
              </a:defRPr>
            </a:lvl5pPr>
          </a:lstStyle>
          <a:p>
            <a:pPr lvl="0"/>
            <a:r>
              <a:rPr lang="pl-PL" dirty="0" err="1"/>
              <a:t>Date</a:t>
            </a:r>
            <a:r>
              <a:rPr lang="pl-PL" dirty="0"/>
              <a:t> </a:t>
            </a:r>
            <a:r>
              <a:rPr lang="pl-PL" dirty="0" err="1"/>
              <a:t>goes</a:t>
            </a:r>
            <a:r>
              <a:rPr lang="pl-PL" dirty="0"/>
              <a:t> </a:t>
            </a:r>
            <a:r>
              <a:rPr lang="pl-PL" dirty="0" err="1"/>
              <a:t>here</a:t>
            </a:r>
            <a:endParaRPr lang="pl-PL" dirty="0"/>
          </a:p>
        </p:txBody>
      </p:sp>
      <p:sp>
        <p:nvSpPr>
          <p:cNvPr id="39" name="Picture Placeholder 38">
            <a:extLst>
              <a:ext uri="{FF2B5EF4-FFF2-40B4-BE49-F238E27FC236}">
                <a16:creationId xmlns:a16="http://schemas.microsoft.com/office/drawing/2014/main" id="{22A9AAEC-2B60-954B-96DD-3A14026F3288}"/>
              </a:ext>
            </a:extLst>
          </p:cNvPr>
          <p:cNvSpPr>
            <a:spLocks noGrp="1"/>
          </p:cNvSpPr>
          <p:nvPr>
            <p:ph type="pic" sz="quarter" idx="14"/>
          </p:nvPr>
        </p:nvSpPr>
        <p:spPr>
          <a:xfrm>
            <a:off x="0" y="0"/>
            <a:ext cx="3870325" cy="6858000"/>
          </a:xfrm>
          <a:prstGeom prst="rect">
            <a:avLst/>
          </a:prstGeom>
        </p:spPr>
        <p:txBody>
          <a:bodyPr lIns="90704" tIns="45352" rIns="90704" bIns="45352"/>
          <a:lstStyle/>
          <a:p>
            <a:endParaRPr lang="pl-PL"/>
          </a:p>
        </p:txBody>
      </p:sp>
    </p:spTree>
    <p:extLst>
      <p:ext uri="{BB962C8B-B14F-4D97-AF65-F5344CB8AC3E}">
        <p14:creationId xmlns:p14="http://schemas.microsoft.com/office/powerpoint/2010/main" val="9705941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EMPTY WITH TITLE">
    <p:spTree>
      <p:nvGrpSpPr>
        <p:cNvPr id="1" name=""/>
        <p:cNvGrpSpPr/>
        <p:nvPr/>
      </p:nvGrpSpPr>
      <p:grpSpPr>
        <a:xfrm>
          <a:off x="0" y="0"/>
          <a:ext cx="0" cy="0"/>
          <a:chOff x="0" y="0"/>
          <a:chExt cx="0" cy="0"/>
        </a:xfrm>
      </p:grpSpPr>
      <p:sp>
        <p:nvSpPr>
          <p:cNvPr id="7" name="Title 7">
            <a:extLst>
              <a:ext uri="{FF2B5EF4-FFF2-40B4-BE49-F238E27FC236}">
                <a16:creationId xmlns:a16="http://schemas.microsoft.com/office/drawing/2014/main" id="{DCB63A60-0A2F-DB4D-B049-C7C4FF8ED21D}"/>
              </a:ext>
            </a:extLst>
          </p:cNvPr>
          <p:cNvSpPr>
            <a:spLocks noGrp="1"/>
          </p:cNvSpPr>
          <p:nvPr>
            <p:ph type="title" hasCustomPrompt="1"/>
          </p:nvPr>
        </p:nvSpPr>
        <p:spPr>
          <a:xfrm>
            <a:off x="610397" y="546557"/>
            <a:ext cx="10645935" cy="507088"/>
          </a:xfrm>
          <a:prstGeom prst="rect">
            <a:avLst/>
          </a:prstGeom>
          <a:noFill/>
        </p:spPr>
        <p:txBody>
          <a:bodyPr wrap="square" lIns="90704" tIns="45352" rIns="90704" bIns="45352" rtlCol="0" anchor="ctr" anchorCtr="0">
            <a:spAutoFit/>
          </a:bodyPr>
          <a:lstStyle>
            <a:lvl1pPr>
              <a:defRPr lang="uk-UA" sz="3000" b="1">
                <a:latin typeface="Calibri" charset="0"/>
                <a:ea typeface="Calibri" charset="0"/>
                <a:cs typeface="Calibri" charset="0"/>
              </a:defRPr>
            </a:lvl1pPr>
          </a:lstStyle>
          <a:p>
            <a:pPr marL="0" lvl="0"/>
            <a:r>
              <a:rPr lang="en-US" dirty="0"/>
              <a:t>Title goes here</a:t>
            </a:r>
            <a:endParaRPr lang="uk-UA" dirty="0"/>
          </a:p>
        </p:txBody>
      </p:sp>
      <p:cxnSp>
        <p:nvCxnSpPr>
          <p:cNvPr id="13" name="Straight Connector 1">
            <a:extLst>
              <a:ext uri="{FF2B5EF4-FFF2-40B4-BE49-F238E27FC236}">
                <a16:creationId xmlns:a16="http://schemas.microsoft.com/office/drawing/2014/main" id="{CACEC802-F2DC-9F49-B96D-08F142BA932A}"/>
              </a:ext>
            </a:extLst>
          </p:cNvPr>
          <p:cNvCxnSpPr/>
          <p:nvPr userDrawn="1"/>
        </p:nvCxnSpPr>
        <p:spPr>
          <a:xfrm>
            <a:off x="469901" y="457200"/>
            <a:ext cx="0" cy="6858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4">
            <a:extLst>
              <a:ext uri="{FF2B5EF4-FFF2-40B4-BE49-F238E27FC236}">
                <a16:creationId xmlns:a16="http://schemas.microsoft.com/office/drawing/2014/main" id="{53F1C73B-9C31-DB47-9899-36D06AE8543C}"/>
              </a:ext>
            </a:extLst>
          </p:cNvPr>
          <p:cNvCxnSpPr/>
          <p:nvPr userDrawn="1"/>
        </p:nvCxnSpPr>
        <p:spPr>
          <a:xfrm>
            <a:off x="469901" y="6124657"/>
            <a:ext cx="0" cy="4953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5F9D735-6908-534F-80BC-360625B39C36}"/>
              </a:ext>
            </a:extLst>
          </p:cNvPr>
          <p:cNvPicPr>
            <a:picLocks noChangeAspect="1"/>
          </p:cNvPicPr>
          <p:nvPr userDrawn="1"/>
        </p:nvPicPr>
        <p:blipFill>
          <a:blip r:embed="rId2"/>
          <a:stretch>
            <a:fillRect/>
          </a:stretch>
        </p:blipFill>
        <p:spPr>
          <a:xfrm>
            <a:off x="693053" y="6124657"/>
            <a:ext cx="1604152" cy="483664"/>
          </a:xfrm>
          <a:prstGeom prst="rect">
            <a:avLst/>
          </a:prstGeom>
        </p:spPr>
      </p:pic>
      <p:sp>
        <p:nvSpPr>
          <p:cNvPr id="21" name="Prostokąt 6">
            <a:extLst>
              <a:ext uri="{FF2B5EF4-FFF2-40B4-BE49-F238E27FC236}">
                <a16:creationId xmlns:a16="http://schemas.microsoft.com/office/drawing/2014/main" id="{53E3127C-A33F-8C40-A146-CFE425A7D5CC}"/>
              </a:ext>
            </a:extLst>
          </p:cNvPr>
          <p:cNvSpPr/>
          <p:nvPr userDrawn="1"/>
        </p:nvSpPr>
        <p:spPr>
          <a:xfrm>
            <a:off x="11718789" y="0"/>
            <a:ext cx="473211"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22" name="Obraz 9">
            <a:extLst>
              <a:ext uri="{FF2B5EF4-FFF2-40B4-BE49-F238E27FC236}">
                <a16:creationId xmlns:a16="http://schemas.microsoft.com/office/drawing/2014/main" id="{EB4B66BA-85FB-2740-B8B5-E4B5CD2A30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00730" y="200665"/>
            <a:ext cx="342333" cy="377146"/>
          </a:xfrm>
          <a:prstGeom prst="rect">
            <a:avLst/>
          </a:prstGeom>
        </p:spPr>
      </p:pic>
      <p:sp>
        <p:nvSpPr>
          <p:cNvPr id="23" name="Rectangle 22">
            <a:extLst>
              <a:ext uri="{FF2B5EF4-FFF2-40B4-BE49-F238E27FC236}">
                <a16:creationId xmlns:a16="http://schemas.microsoft.com/office/drawing/2014/main" id="{C61A9943-D89F-864D-B1A2-49D9072963BA}"/>
              </a:ext>
            </a:extLst>
          </p:cNvPr>
          <p:cNvSpPr/>
          <p:nvPr userDrawn="1"/>
        </p:nvSpPr>
        <p:spPr>
          <a:xfrm>
            <a:off x="11770366" y="6354321"/>
            <a:ext cx="404248" cy="348383"/>
          </a:xfrm>
          <a:prstGeom prst="rect">
            <a:avLst/>
          </a:prstGeom>
        </p:spPr>
        <p:txBody>
          <a:bodyPr wrap="none" lIns="60469" tIns="30235" rIns="60469" bIns="30235">
            <a:spAutoFit/>
          </a:bodyPr>
          <a:lstStyle/>
          <a:p>
            <a:fld id="{E5B4EB64-54DE-40F8-9354-51A55C032A93}" type="slidenum">
              <a:rPr lang="pl-PL" sz="1867" b="1" smtClean="0">
                <a:solidFill>
                  <a:schemeClr val="bg1"/>
                </a:solidFill>
              </a:rPr>
              <a:pPr/>
              <a:t>‹#›</a:t>
            </a:fld>
            <a:endParaRPr lang="pl-PL" sz="1200"/>
          </a:p>
        </p:txBody>
      </p:sp>
    </p:spTree>
    <p:extLst>
      <p:ext uri="{BB962C8B-B14F-4D97-AF65-F5344CB8AC3E}">
        <p14:creationId xmlns:p14="http://schemas.microsoft.com/office/powerpoint/2010/main" val="20543448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30" name="Prostokąt 10">
            <a:extLst>
              <a:ext uri="{FF2B5EF4-FFF2-40B4-BE49-F238E27FC236}">
                <a16:creationId xmlns:a16="http://schemas.microsoft.com/office/drawing/2014/main" id="{8B9F059C-04F3-8746-914A-2F23F849AB26}"/>
              </a:ext>
            </a:extLst>
          </p:cNvPr>
          <p:cNvSpPr/>
          <p:nvPr/>
        </p:nvSpPr>
        <p:spPr>
          <a:xfrm>
            <a:off x="1" y="0"/>
            <a:ext cx="7088373"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sp>
        <p:nvSpPr>
          <p:cNvPr id="34" name="Picture Placeholder 38">
            <a:extLst>
              <a:ext uri="{FF2B5EF4-FFF2-40B4-BE49-F238E27FC236}">
                <a16:creationId xmlns:a16="http://schemas.microsoft.com/office/drawing/2014/main" id="{C3DEE2CE-5ADA-914A-A6D4-402AC05FF6A9}"/>
              </a:ext>
            </a:extLst>
          </p:cNvPr>
          <p:cNvSpPr>
            <a:spLocks noGrp="1"/>
          </p:cNvSpPr>
          <p:nvPr>
            <p:ph type="pic" sz="quarter" idx="14"/>
          </p:nvPr>
        </p:nvSpPr>
        <p:spPr>
          <a:xfrm>
            <a:off x="7088372" y="0"/>
            <a:ext cx="5103629" cy="6858000"/>
          </a:xfrm>
          <a:prstGeom prst="rect">
            <a:avLst/>
          </a:prstGeom>
        </p:spPr>
        <p:txBody>
          <a:bodyPr/>
          <a:lstStyle/>
          <a:p>
            <a:r>
              <a:rPr lang="en-US"/>
              <a:t>Click icon to add picture</a:t>
            </a:r>
            <a:endParaRPr lang="pl-PL"/>
          </a:p>
        </p:txBody>
      </p:sp>
      <p:pic>
        <p:nvPicPr>
          <p:cNvPr id="27" name="Picture 26">
            <a:extLst>
              <a:ext uri="{FF2B5EF4-FFF2-40B4-BE49-F238E27FC236}">
                <a16:creationId xmlns:a16="http://schemas.microsoft.com/office/drawing/2014/main" id="{9D5E7584-F5F1-A84A-8BA2-03533636A742}"/>
              </a:ext>
            </a:extLst>
          </p:cNvPr>
          <p:cNvPicPr>
            <a:picLocks noChangeAspect="1"/>
          </p:cNvPicPr>
          <p:nvPr/>
        </p:nvPicPr>
        <p:blipFill>
          <a:blip r:embed="rId2"/>
          <a:stretch>
            <a:fillRect/>
          </a:stretch>
        </p:blipFill>
        <p:spPr>
          <a:xfrm>
            <a:off x="1635972" y="5130009"/>
            <a:ext cx="3816431" cy="615554"/>
          </a:xfrm>
          <a:prstGeom prst="rect">
            <a:avLst/>
          </a:prstGeom>
        </p:spPr>
      </p:pic>
      <p:sp>
        <p:nvSpPr>
          <p:cNvPr id="28" name="pole tekstowe 1">
            <a:extLst>
              <a:ext uri="{FF2B5EF4-FFF2-40B4-BE49-F238E27FC236}">
                <a16:creationId xmlns:a16="http://schemas.microsoft.com/office/drawing/2014/main" id="{1EBCD86C-CC45-DE44-BB25-964DCBBDDEA4}"/>
              </a:ext>
            </a:extLst>
          </p:cNvPr>
          <p:cNvSpPr txBox="1"/>
          <p:nvPr/>
        </p:nvSpPr>
        <p:spPr>
          <a:xfrm>
            <a:off x="2125234" y="1944817"/>
            <a:ext cx="3303045" cy="738169"/>
          </a:xfrm>
          <a:prstGeom prst="rect">
            <a:avLst/>
          </a:prstGeom>
          <a:noFill/>
        </p:spPr>
        <p:txBody>
          <a:bodyPr wrap="square" lIns="60469" tIns="30235" rIns="60469" bIns="30235" rtlCol="0">
            <a:spAutoFit/>
          </a:bodyPr>
          <a:lstStyle/>
          <a:p>
            <a:r>
              <a:rPr lang="en-US" sz="4400" b="1">
                <a:solidFill>
                  <a:schemeClr val="bg1"/>
                </a:solidFill>
                <a:latin typeface="+mj-lt"/>
              </a:rPr>
              <a:t>Thank you</a:t>
            </a:r>
            <a:endParaRPr lang="pl-PL" sz="4400" b="1">
              <a:solidFill>
                <a:schemeClr val="bg1"/>
              </a:solidFill>
              <a:latin typeface="+mj-lt"/>
            </a:endParaRPr>
          </a:p>
        </p:txBody>
      </p:sp>
      <p:sp>
        <p:nvSpPr>
          <p:cNvPr id="29" name="pole tekstowe 1">
            <a:extLst>
              <a:ext uri="{FF2B5EF4-FFF2-40B4-BE49-F238E27FC236}">
                <a16:creationId xmlns:a16="http://schemas.microsoft.com/office/drawing/2014/main" id="{C8ECBCAB-DBDC-2F41-A995-8A39A948BEC0}"/>
              </a:ext>
            </a:extLst>
          </p:cNvPr>
          <p:cNvSpPr txBox="1"/>
          <p:nvPr/>
        </p:nvSpPr>
        <p:spPr>
          <a:xfrm>
            <a:off x="2141543" y="2565005"/>
            <a:ext cx="3779161" cy="604927"/>
          </a:xfrm>
          <a:prstGeom prst="rect">
            <a:avLst/>
          </a:prstGeom>
          <a:noFill/>
        </p:spPr>
        <p:txBody>
          <a:bodyPr wrap="square" lIns="60469" tIns="30235" rIns="60469" bIns="30235" rtlCol="0">
            <a:spAutoFit/>
          </a:bodyPr>
          <a:lstStyle/>
          <a:p>
            <a:r>
              <a:rPr lang="pl-PL" sz="3534">
                <a:solidFill>
                  <a:schemeClr val="bg1"/>
                </a:solidFill>
              </a:rPr>
              <a:t>for </a:t>
            </a:r>
            <a:r>
              <a:rPr lang="pl-PL" sz="3534" err="1">
                <a:solidFill>
                  <a:schemeClr val="bg1"/>
                </a:solidFill>
              </a:rPr>
              <a:t>your</a:t>
            </a:r>
            <a:r>
              <a:rPr lang="pl-PL" sz="3534">
                <a:solidFill>
                  <a:schemeClr val="bg1"/>
                </a:solidFill>
              </a:rPr>
              <a:t> </a:t>
            </a:r>
            <a:r>
              <a:rPr lang="pl-PL" sz="3534" err="1">
                <a:solidFill>
                  <a:schemeClr val="bg1"/>
                </a:solidFill>
              </a:rPr>
              <a:t>time</a:t>
            </a:r>
            <a:endParaRPr lang="pl-PL" sz="3534">
              <a:solidFill>
                <a:schemeClr val="bg1"/>
              </a:solidFill>
            </a:endParaRPr>
          </a:p>
        </p:txBody>
      </p:sp>
    </p:spTree>
    <p:extLst>
      <p:ext uri="{BB962C8B-B14F-4D97-AF65-F5344CB8AC3E}">
        <p14:creationId xmlns:p14="http://schemas.microsoft.com/office/powerpoint/2010/main" val="361287458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4BE92-389B-0341-B6CB-DFC753196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CCFD36-B6E1-3D46-871A-AE04116A7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4BFA8-1493-1B43-A896-2DD3D63C9E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269190-6A13-034E-92A6-8400565D510F}" type="datetimeFigureOut">
              <a:rPr lang="en-US" smtClean="0"/>
              <a:t>01-Apr-22</a:t>
            </a:fld>
            <a:endParaRPr lang="en-US"/>
          </a:p>
        </p:txBody>
      </p:sp>
      <p:sp>
        <p:nvSpPr>
          <p:cNvPr id="5" name="Footer Placeholder 4">
            <a:extLst>
              <a:ext uri="{FF2B5EF4-FFF2-40B4-BE49-F238E27FC236}">
                <a16:creationId xmlns:a16="http://schemas.microsoft.com/office/drawing/2014/main" id="{3E9602DB-A231-A441-8A07-2D9F5DA83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0D0E97-533E-584C-B315-8B57D7564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4FF79-6540-2F4E-9250-0A9D95AD69B6}" type="slidenum">
              <a:rPr lang="en-US" smtClean="0"/>
              <a:t>‹#›</a:t>
            </a:fld>
            <a:endParaRPr lang="en-US"/>
          </a:p>
        </p:txBody>
      </p:sp>
    </p:spTree>
    <p:extLst>
      <p:ext uri="{BB962C8B-B14F-4D97-AF65-F5344CB8AC3E}">
        <p14:creationId xmlns:p14="http://schemas.microsoft.com/office/powerpoint/2010/main" val="2178062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webm"/><Relationship Id="rId1" Type="http://schemas.microsoft.com/office/2007/relationships/media" Target="../media/media1.webm"/><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1623" y="2487087"/>
            <a:ext cx="7876673" cy="1716778"/>
          </a:xfrm>
        </p:spPr>
        <p:txBody>
          <a:bodyPr/>
          <a:lstStyle/>
          <a:p>
            <a:r>
              <a:rPr lang="en-US" dirty="0"/>
              <a:t>LIFE CYCLE OF WEB REQUESTS</a:t>
            </a:r>
          </a:p>
        </p:txBody>
      </p:sp>
      <p:sp>
        <p:nvSpPr>
          <p:cNvPr id="3" name="TextBox 2">
            <a:extLst>
              <a:ext uri="{FF2B5EF4-FFF2-40B4-BE49-F238E27FC236}">
                <a16:creationId xmlns:a16="http://schemas.microsoft.com/office/drawing/2014/main" id="{52EDEF5C-B205-4B93-B031-D3DACB2CE89F}"/>
              </a:ext>
            </a:extLst>
          </p:cNvPr>
          <p:cNvSpPr txBox="1"/>
          <p:nvPr/>
        </p:nvSpPr>
        <p:spPr>
          <a:xfrm>
            <a:off x="5019262" y="1170342"/>
            <a:ext cx="6101394" cy="1077218"/>
          </a:xfrm>
          <a:prstGeom prst="rect">
            <a:avLst/>
          </a:prstGeom>
          <a:noFill/>
        </p:spPr>
        <p:txBody>
          <a:bodyPr wrap="square" rtlCol="0">
            <a:spAutoFit/>
          </a:bodyPr>
          <a:lstStyle/>
          <a:p>
            <a:pPr algn="ctr"/>
            <a:r>
              <a:rPr lang="en-US" sz="2800" dirty="0">
                <a:solidFill>
                  <a:schemeClr val="bg1"/>
                </a:solidFill>
              </a:rPr>
              <a:t>A MEMBER OF TEAM AURORA</a:t>
            </a:r>
            <a:endParaRPr lang="en-US" sz="2800" dirty="0">
              <a:solidFill>
                <a:schemeClr val="bg1"/>
              </a:solidFill>
              <a:cs typeface="Calibri"/>
            </a:endParaRPr>
          </a:p>
          <a:p>
            <a:pPr algn="ctr"/>
            <a:r>
              <a:rPr lang="en-US" sz="1800" dirty="0">
                <a:solidFill>
                  <a:schemeClr val="bg1"/>
                </a:solidFill>
              </a:rPr>
              <a:t>“None of us is as smart as all of us”</a:t>
            </a:r>
            <a:endParaRPr lang="en-US" sz="1800" dirty="0">
              <a:solidFill>
                <a:schemeClr val="bg1"/>
              </a:solidFill>
              <a:cs typeface="Calibri"/>
            </a:endParaRPr>
          </a:p>
          <a:p>
            <a:endParaRPr lang="en-US" dirty="0"/>
          </a:p>
        </p:txBody>
      </p:sp>
      <p:pic>
        <p:nvPicPr>
          <p:cNvPr id="6" name="Picture 2">
            <a:extLst>
              <a:ext uri="{FF2B5EF4-FFF2-40B4-BE49-F238E27FC236}">
                <a16:creationId xmlns:a16="http://schemas.microsoft.com/office/drawing/2014/main" id="{F87EA40B-B7F8-4938-819B-3EAB30F55AA5}"/>
              </a:ext>
            </a:extLst>
          </p:cNvPr>
          <p:cNvPicPr>
            <a:picLocks noGrp="1" noChangeAspect="1"/>
          </p:cNvPicPr>
          <p:nvPr>
            <p:ph type="pic" sz="quarter" idx="14"/>
          </p:nvPr>
        </p:nvPicPr>
        <p:blipFill>
          <a:blip r:embed="rId2"/>
          <a:srcRect l="20442" r="20442"/>
          <a:stretch>
            <a:fillRect/>
          </a:stretch>
        </p:blipFill>
        <p:spPr>
          <a:xfrm>
            <a:off x="0" y="0"/>
            <a:ext cx="3870325" cy="6858000"/>
          </a:xfrm>
          <a:prstGeom prst="rect">
            <a:avLst/>
          </a:prstGeom>
        </p:spPr>
      </p:pic>
      <p:sp>
        <p:nvSpPr>
          <p:cNvPr id="4" name="TextBox 3">
            <a:extLst>
              <a:ext uri="{FF2B5EF4-FFF2-40B4-BE49-F238E27FC236}">
                <a16:creationId xmlns:a16="http://schemas.microsoft.com/office/drawing/2014/main" id="{9858A272-70C1-4EA9-87A3-99B261806E22}"/>
              </a:ext>
            </a:extLst>
          </p:cNvPr>
          <p:cNvSpPr txBox="1"/>
          <p:nvPr/>
        </p:nvSpPr>
        <p:spPr>
          <a:xfrm>
            <a:off x="5818173" y="465803"/>
            <a:ext cx="4871405" cy="584775"/>
          </a:xfrm>
          <a:prstGeom prst="rect">
            <a:avLst/>
          </a:prstGeom>
          <a:noFill/>
        </p:spPr>
        <p:txBody>
          <a:bodyPr wrap="square" rtlCol="0">
            <a:spAutoFit/>
          </a:bodyPr>
          <a:lstStyle/>
          <a:p>
            <a:r>
              <a:rPr lang="en-US" sz="3200" dirty="0">
                <a:solidFill>
                  <a:schemeClr val="bg1"/>
                </a:solidFill>
              </a:rPr>
              <a:t> VENKATESHWARAN.M </a:t>
            </a:r>
          </a:p>
        </p:txBody>
      </p:sp>
    </p:spTree>
    <p:extLst>
      <p:ext uri="{BB962C8B-B14F-4D97-AF65-F5344CB8AC3E}">
        <p14:creationId xmlns:p14="http://schemas.microsoft.com/office/powerpoint/2010/main" val="302796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33" dirty="0"/>
              <a:t>What is a Web Request ?</a:t>
            </a:r>
          </a:p>
        </p:txBody>
      </p:sp>
      <p:sp>
        <p:nvSpPr>
          <p:cNvPr id="3" name="TextBox 2">
            <a:extLst>
              <a:ext uri="{FF2B5EF4-FFF2-40B4-BE49-F238E27FC236}">
                <a16:creationId xmlns:a16="http://schemas.microsoft.com/office/drawing/2014/main" id="{22C7D82B-BF02-4136-8593-641C4CB9A1B1}"/>
              </a:ext>
            </a:extLst>
          </p:cNvPr>
          <p:cNvSpPr txBox="1"/>
          <p:nvPr/>
        </p:nvSpPr>
        <p:spPr>
          <a:xfrm>
            <a:off x="534197" y="1147877"/>
            <a:ext cx="10851419" cy="1754326"/>
          </a:xfrm>
          <a:prstGeom prst="rect">
            <a:avLst/>
          </a:prstGeom>
          <a:noFill/>
        </p:spPr>
        <p:txBody>
          <a:bodyPr wrap="square" rtlCol="0">
            <a:spAutoFit/>
          </a:bodyPr>
          <a:lstStyle/>
          <a:p>
            <a:r>
              <a:rPr lang="en-US" b="1" dirty="0">
                <a:solidFill>
                  <a:srgbClr val="212529"/>
                </a:solidFill>
                <a:latin typeface="Open Sans" panose="020B0606030504020204" pitchFamily="34" charset="0"/>
              </a:rPr>
              <a:t> </a:t>
            </a:r>
            <a:r>
              <a:rPr lang="en-US" b="0" i="0" dirty="0">
                <a:solidFill>
                  <a:srgbClr val="212529"/>
                </a:solidFill>
                <a:effectLst/>
                <a:latin typeface="Open Sans" panose="020B0606030504020204" pitchFamily="34" charset="0"/>
              </a:rPr>
              <a:t>A web request is a communicative message that is transmitted between the client, or web browsers, to the servers. This request is essential in providing the user with the correct and preferred webpages that the server will then display on the user’s interface. The server then retrieves the content requested by the client that will result in the webpages, images or interactive features displayed. Per each request sent on behalf of the client, the server will complete each one thus loading the respective amount of webpages, images or elements.</a:t>
            </a:r>
            <a:endParaRPr lang="en-US" b="1" dirty="0"/>
          </a:p>
        </p:txBody>
      </p:sp>
    </p:spTree>
    <p:extLst>
      <p:ext uri="{BB962C8B-B14F-4D97-AF65-F5344CB8AC3E}">
        <p14:creationId xmlns:p14="http://schemas.microsoft.com/office/powerpoint/2010/main" val="167688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46528"/>
            <a:ext cx="10645935" cy="423988"/>
          </a:xfrm>
        </p:spPr>
        <p:txBody>
          <a:bodyPr/>
          <a:lstStyle/>
          <a:p>
            <a:r>
              <a:rPr lang="en-US" sz="2400" i="0" dirty="0">
                <a:solidFill>
                  <a:srgbClr val="212529"/>
                </a:solidFill>
                <a:effectLst/>
                <a:latin typeface="Open Sans" panose="020B0606030504020204" pitchFamily="34" charset="0"/>
              </a:rPr>
              <a:t>How Does a Web Request Work?</a:t>
            </a:r>
            <a:endParaRPr lang="en-US" sz="2400" dirty="0"/>
          </a:p>
        </p:txBody>
      </p:sp>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543646"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sp>
        <p:nvSpPr>
          <p:cNvPr id="3" name="Rounded Rectangle 2"/>
          <p:cNvSpPr/>
          <p:nvPr/>
        </p:nvSpPr>
        <p:spPr>
          <a:xfrm>
            <a:off x="585539" y="1218721"/>
            <a:ext cx="10274967" cy="4146297"/>
          </a:xfrm>
          <a:prstGeom prst="roundRect">
            <a:avLst/>
          </a:prstGeom>
          <a:noFill/>
          <a:ln w="6350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r>
              <a:rPr lang="en-US" b="0" i="0" dirty="0">
                <a:solidFill>
                  <a:srgbClr val="212529"/>
                </a:solidFill>
                <a:effectLst/>
                <a:latin typeface="Open Sans" panose="020B0606030504020204" pitchFamily="34" charset="0"/>
              </a:rPr>
              <a:t>A web request can also be known as an HTTP request which is the protocol that interacts between the client and the server. A client will type in a URL address prompting the web request to the server. The client or web browser will then connect to the server that it’s seeking information and data from. If the website exists and can be located then the request will continue to be processed. If the website cannot be located, an HTTP 404 “Page Not Found” message will revert back to the client. Once the request has been completed, however, that initial connection has ended and a new one must be made for every additional request made thereafter. Furthermore, within a webpage that has been requested, smaller elements such as visual imagery, videos, or other interactive content will begin to send HTTP requests of their own. Once all requests have been completed for a webpage, the user will be able to interact with all the capabilities and features displayed.</a:t>
            </a:r>
            <a:endParaRPr lang="en-US" b="1" dirty="0">
              <a:solidFill>
                <a:schemeClr val="tx1"/>
              </a:solidFill>
            </a:endParaRPr>
          </a:p>
        </p:txBody>
      </p:sp>
    </p:spTree>
    <p:extLst>
      <p:ext uri="{BB962C8B-B14F-4D97-AF65-F5344CB8AC3E}">
        <p14:creationId xmlns:p14="http://schemas.microsoft.com/office/powerpoint/2010/main" val="2918643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5833-D275-4882-B023-135235CE3960}"/>
              </a:ext>
            </a:extLst>
          </p:cNvPr>
          <p:cNvSpPr>
            <a:spLocks noGrp="1"/>
          </p:cNvSpPr>
          <p:nvPr>
            <p:ph type="title"/>
          </p:nvPr>
        </p:nvSpPr>
        <p:spPr>
          <a:xfrm>
            <a:off x="505201" y="538934"/>
            <a:ext cx="10645935" cy="2141382"/>
          </a:xfrm>
        </p:spPr>
        <p:txBody>
          <a:bodyPr/>
          <a:lstStyle/>
          <a:p>
            <a:r>
              <a:rPr lang="en-US" sz="2800" b="1" i="0" dirty="0">
                <a:solidFill>
                  <a:srgbClr val="323232"/>
                </a:solidFill>
                <a:effectLst/>
                <a:latin typeface="Arial" panose="020B0604020202020204" pitchFamily="34" charset="0"/>
              </a:rPr>
              <a:t>What is a URL?</a:t>
            </a:r>
            <a:br>
              <a:rPr lang="en-US" b="1" i="0" dirty="0">
                <a:solidFill>
                  <a:srgbClr val="323232"/>
                </a:solidFill>
                <a:effectLst/>
                <a:latin typeface="Arial" panose="020B0604020202020204" pitchFamily="34" charset="0"/>
              </a:rPr>
            </a:br>
            <a:br>
              <a:rPr lang="en-US" b="0" i="0" dirty="0">
                <a:solidFill>
                  <a:srgbClr val="6C6C6C"/>
                </a:solidFill>
                <a:effectLst/>
                <a:latin typeface="Arial" panose="020B0604020202020204" pitchFamily="34" charset="0"/>
              </a:rPr>
            </a:br>
            <a:r>
              <a:rPr lang="en-US" sz="2000" b="0" i="0" dirty="0">
                <a:effectLst/>
              </a:rPr>
              <a:t>A URL (Uniform Resource Locator) is a unique identifier used to locate a resource on the Internet. It is also referred to as a web address. URLs consist of multiple parts -- including a protocol and domain name -- that tell a web browser how and where to retrieve a resource</a:t>
            </a:r>
            <a:r>
              <a:rPr lang="en-US" sz="2000" b="0" i="0" dirty="0">
                <a:effectLst/>
                <a:latin typeface="Arial" panose="020B0604020202020204" pitchFamily="34" charset="0"/>
              </a:rPr>
              <a:t>.</a:t>
            </a:r>
            <a:br>
              <a:rPr lang="en-US" i="0" dirty="0">
                <a:effectLst/>
              </a:rPr>
            </a:br>
            <a:endParaRPr lang="en-US" dirty="0"/>
          </a:p>
        </p:txBody>
      </p:sp>
      <p:pic>
        <p:nvPicPr>
          <p:cNvPr id="3" name="Picture 2">
            <a:extLst>
              <a:ext uri="{FF2B5EF4-FFF2-40B4-BE49-F238E27FC236}">
                <a16:creationId xmlns:a16="http://schemas.microsoft.com/office/drawing/2014/main" id="{70696190-DB25-462D-8759-01C054C431C3}"/>
              </a:ext>
            </a:extLst>
          </p:cNvPr>
          <p:cNvPicPr>
            <a:picLocks noChangeAspect="1"/>
          </p:cNvPicPr>
          <p:nvPr/>
        </p:nvPicPr>
        <p:blipFill rotWithShape="1">
          <a:blip r:embed="rId2"/>
          <a:srcRect l="3013" t="8856" r="5156" b="13186"/>
          <a:stretch/>
        </p:blipFill>
        <p:spPr>
          <a:xfrm>
            <a:off x="2702739" y="2346690"/>
            <a:ext cx="4669106" cy="3430037"/>
          </a:xfrm>
          <a:prstGeom prst="rect">
            <a:avLst/>
          </a:prstGeom>
        </p:spPr>
      </p:pic>
    </p:spTree>
    <p:extLst>
      <p:ext uri="{BB962C8B-B14F-4D97-AF65-F5344CB8AC3E}">
        <p14:creationId xmlns:p14="http://schemas.microsoft.com/office/powerpoint/2010/main" val="3759200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2F1DA7-386F-4274-A95B-13A8B958EEB7}"/>
              </a:ext>
            </a:extLst>
          </p:cNvPr>
          <p:cNvPicPr>
            <a:picLocks noChangeAspect="1"/>
          </p:cNvPicPr>
          <p:nvPr/>
        </p:nvPicPr>
        <p:blipFill>
          <a:blip r:embed="rId2"/>
          <a:stretch>
            <a:fillRect/>
          </a:stretch>
        </p:blipFill>
        <p:spPr>
          <a:xfrm>
            <a:off x="2718499" y="2262137"/>
            <a:ext cx="6140005" cy="4243445"/>
          </a:xfrm>
          <a:prstGeom prst="rect">
            <a:avLst/>
          </a:prstGeom>
        </p:spPr>
      </p:pic>
      <p:sp>
        <p:nvSpPr>
          <p:cNvPr id="5" name="TextBox 4">
            <a:extLst>
              <a:ext uri="{FF2B5EF4-FFF2-40B4-BE49-F238E27FC236}">
                <a16:creationId xmlns:a16="http://schemas.microsoft.com/office/drawing/2014/main" id="{A1C8D52F-12E8-4812-89CB-2E5B75405F25}"/>
              </a:ext>
            </a:extLst>
          </p:cNvPr>
          <p:cNvSpPr txBox="1"/>
          <p:nvPr/>
        </p:nvSpPr>
        <p:spPr>
          <a:xfrm>
            <a:off x="477430" y="526497"/>
            <a:ext cx="7242371" cy="646331"/>
          </a:xfrm>
          <a:prstGeom prst="rect">
            <a:avLst/>
          </a:prstGeom>
          <a:noFill/>
        </p:spPr>
        <p:txBody>
          <a:bodyPr wrap="square" rtlCol="0">
            <a:spAutoFit/>
          </a:bodyPr>
          <a:lstStyle/>
          <a:p>
            <a:r>
              <a:rPr lang="en-US" sz="3600" b="1" dirty="0">
                <a:latin typeface="+mj-lt"/>
              </a:rPr>
              <a:t>DNS – Domain Name System</a:t>
            </a:r>
          </a:p>
        </p:txBody>
      </p:sp>
      <p:sp>
        <p:nvSpPr>
          <p:cNvPr id="6" name="TextBox 5">
            <a:extLst>
              <a:ext uri="{FF2B5EF4-FFF2-40B4-BE49-F238E27FC236}">
                <a16:creationId xmlns:a16="http://schemas.microsoft.com/office/drawing/2014/main" id="{AE9EBD4C-9ACC-4FCB-93DF-8ED640F5F3BB}"/>
              </a:ext>
            </a:extLst>
          </p:cNvPr>
          <p:cNvSpPr txBox="1"/>
          <p:nvPr/>
        </p:nvSpPr>
        <p:spPr>
          <a:xfrm>
            <a:off x="558350" y="1254266"/>
            <a:ext cx="10106953" cy="1477328"/>
          </a:xfrm>
          <a:prstGeom prst="rect">
            <a:avLst/>
          </a:prstGeom>
          <a:noFill/>
        </p:spPr>
        <p:txBody>
          <a:bodyPr wrap="square" rtlCol="0">
            <a:spAutoFit/>
          </a:bodyPr>
          <a:lstStyle/>
          <a:p>
            <a:pPr algn="l" fontAlgn="base">
              <a:buFont typeface="Arial" panose="020B0604020202020204" pitchFamily="34" charset="0"/>
              <a:buChar char="•"/>
            </a:pPr>
            <a:r>
              <a:rPr lang="en-US" b="0" i="0" dirty="0">
                <a:solidFill>
                  <a:srgbClr val="232629"/>
                </a:solidFill>
                <a:effectLst/>
                <a:latin typeface="inherit"/>
              </a:rPr>
              <a:t>Every Http request first contacts a DNS server which resolves the request URL domain to a IP address.</a:t>
            </a:r>
          </a:p>
          <a:p>
            <a:pPr algn="l" fontAlgn="base">
              <a:buFont typeface="Arial" panose="020B0604020202020204" pitchFamily="34" charset="0"/>
              <a:buChar char="•"/>
            </a:pPr>
            <a:endParaRPr lang="en-US" b="0" i="0" dirty="0">
              <a:solidFill>
                <a:srgbClr val="232629"/>
              </a:solidFill>
              <a:effectLst/>
              <a:latin typeface="inherit"/>
            </a:endParaRPr>
          </a:p>
          <a:p>
            <a:pPr algn="l" fontAlgn="base">
              <a:buFont typeface="Arial" panose="020B0604020202020204" pitchFamily="34" charset="0"/>
              <a:buChar char="•"/>
            </a:pPr>
            <a:r>
              <a:rPr lang="en-US" b="0" i="0" dirty="0">
                <a:solidFill>
                  <a:srgbClr val="232629"/>
                </a:solidFill>
                <a:effectLst/>
                <a:latin typeface="inherit"/>
              </a:rPr>
              <a:t>After fetching the Webserver IP address request is forwarded to it(via PUT request). A webserver like </a:t>
            </a:r>
            <a:r>
              <a:rPr lang="en-US" b="0" i="0" dirty="0" err="1">
                <a:solidFill>
                  <a:srgbClr val="232629"/>
                </a:solidFill>
                <a:effectLst/>
                <a:latin typeface="inherit"/>
              </a:rPr>
              <a:t>apache</a:t>
            </a:r>
            <a:r>
              <a:rPr lang="en-US" b="0" i="0" dirty="0">
                <a:solidFill>
                  <a:srgbClr val="232629"/>
                </a:solidFill>
                <a:effectLst/>
                <a:latin typeface="inherit"/>
              </a:rPr>
              <a:t> handles this request and forwards this to application which has to handle this.</a:t>
            </a:r>
          </a:p>
          <a:p>
            <a:endParaRPr lang="en-US" dirty="0"/>
          </a:p>
        </p:txBody>
      </p:sp>
    </p:spTree>
    <p:extLst>
      <p:ext uri="{BB962C8B-B14F-4D97-AF65-F5344CB8AC3E}">
        <p14:creationId xmlns:p14="http://schemas.microsoft.com/office/powerpoint/2010/main" val="1175712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669" y="609626"/>
            <a:ext cx="10645935" cy="497791"/>
          </a:xfrm>
        </p:spPr>
        <p:txBody>
          <a:bodyPr/>
          <a:lstStyle/>
          <a:p>
            <a:r>
              <a:rPr lang="en-US" sz="2933" dirty="0"/>
              <a:t>Life Cycle Of Web Requests</a:t>
            </a:r>
          </a:p>
        </p:txBody>
      </p:sp>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673118"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sp>
        <p:nvSpPr>
          <p:cNvPr id="4" name="Rectangle 3">
            <a:extLst>
              <a:ext uri="{FF2B5EF4-FFF2-40B4-BE49-F238E27FC236}">
                <a16:creationId xmlns:a16="http://schemas.microsoft.com/office/drawing/2014/main" id="{014166BE-9D18-4984-8041-BCB779152AE0}"/>
              </a:ext>
            </a:extLst>
          </p:cNvPr>
          <p:cNvSpPr/>
          <p:nvPr/>
        </p:nvSpPr>
        <p:spPr>
          <a:xfrm>
            <a:off x="4410159" y="1869260"/>
            <a:ext cx="1885444" cy="5583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FLOW</a:t>
            </a:r>
          </a:p>
        </p:txBody>
      </p:sp>
      <p:sp>
        <p:nvSpPr>
          <p:cNvPr id="9" name="Rectangle 8">
            <a:extLst>
              <a:ext uri="{FF2B5EF4-FFF2-40B4-BE49-F238E27FC236}">
                <a16:creationId xmlns:a16="http://schemas.microsoft.com/office/drawing/2014/main" id="{F0DECC96-DB79-4FAF-8E33-24EE5736C446}"/>
              </a:ext>
            </a:extLst>
          </p:cNvPr>
          <p:cNvSpPr/>
          <p:nvPr/>
        </p:nvSpPr>
        <p:spPr>
          <a:xfrm>
            <a:off x="987228" y="3429000"/>
            <a:ext cx="1650775" cy="497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0" dirty="0">
              <a:solidFill>
                <a:srgbClr val="171717"/>
              </a:solidFill>
              <a:effectLst/>
            </a:endParaRPr>
          </a:p>
          <a:p>
            <a:pPr algn="ctr"/>
            <a:r>
              <a:rPr lang="en-US" sz="1600" i="0" dirty="0">
                <a:solidFill>
                  <a:srgbClr val="171717"/>
                </a:solidFill>
                <a:effectLst/>
              </a:rPr>
              <a:t>Local Processing</a:t>
            </a:r>
          </a:p>
          <a:p>
            <a:pPr algn="ctr"/>
            <a:endParaRPr lang="en-US" dirty="0"/>
          </a:p>
        </p:txBody>
      </p:sp>
      <p:sp>
        <p:nvSpPr>
          <p:cNvPr id="12" name="Rectangle 11">
            <a:extLst>
              <a:ext uri="{FF2B5EF4-FFF2-40B4-BE49-F238E27FC236}">
                <a16:creationId xmlns:a16="http://schemas.microsoft.com/office/drawing/2014/main" id="{5B2D0964-7966-46E4-97EB-5A6427D33017}"/>
              </a:ext>
            </a:extLst>
          </p:cNvPr>
          <p:cNvSpPr/>
          <p:nvPr/>
        </p:nvSpPr>
        <p:spPr>
          <a:xfrm>
            <a:off x="2847730" y="3407202"/>
            <a:ext cx="1650775" cy="497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600" b="1" i="0" dirty="0">
                <a:solidFill>
                  <a:srgbClr val="171717"/>
                </a:solidFill>
                <a:effectLst/>
                <a:latin typeface="-apple-system"/>
              </a:rPr>
              <a:t>  </a:t>
            </a:r>
            <a:r>
              <a:rPr lang="en-US" sz="1600" i="0" dirty="0">
                <a:solidFill>
                  <a:srgbClr val="171717"/>
                </a:solidFill>
                <a:effectLst/>
              </a:rPr>
              <a:t>Resolve an IP</a:t>
            </a:r>
          </a:p>
        </p:txBody>
      </p:sp>
      <p:sp>
        <p:nvSpPr>
          <p:cNvPr id="13" name="Rectangle 12">
            <a:extLst>
              <a:ext uri="{FF2B5EF4-FFF2-40B4-BE49-F238E27FC236}">
                <a16:creationId xmlns:a16="http://schemas.microsoft.com/office/drawing/2014/main" id="{3D94C7AB-1BA8-40CC-942F-88F137E9C761}"/>
              </a:ext>
            </a:extLst>
          </p:cNvPr>
          <p:cNvSpPr/>
          <p:nvPr/>
        </p:nvSpPr>
        <p:spPr>
          <a:xfrm>
            <a:off x="4708232" y="3399565"/>
            <a:ext cx="1650775" cy="497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0" dirty="0">
                <a:solidFill>
                  <a:srgbClr val="171717"/>
                </a:solidFill>
                <a:effectLst/>
              </a:rPr>
              <a:t> </a:t>
            </a:r>
          </a:p>
          <a:p>
            <a:pPr algn="ctr"/>
            <a:r>
              <a:rPr lang="en-US" sz="1600" i="0" dirty="0">
                <a:solidFill>
                  <a:srgbClr val="171717"/>
                </a:solidFill>
                <a:effectLst/>
              </a:rPr>
              <a:t>Establish a TCP Connection</a:t>
            </a:r>
          </a:p>
          <a:p>
            <a:pPr algn="ctr"/>
            <a:endParaRPr lang="en-US" dirty="0"/>
          </a:p>
        </p:txBody>
      </p:sp>
      <p:sp>
        <p:nvSpPr>
          <p:cNvPr id="14" name="Rectangle 13">
            <a:extLst>
              <a:ext uri="{FF2B5EF4-FFF2-40B4-BE49-F238E27FC236}">
                <a16:creationId xmlns:a16="http://schemas.microsoft.com/office/drawing/2014/main" id="{DE8649B8-F8AC-4B81-BF44-A49F50ECB347}"/>
              </a:ext>
            </a:extLst>
          </p:cNvPr>
          <p:cNvSpPr/>
          <p:nvPr/>
        </p:nvSpPr>
        <p:spPr>
          <a:xfrm>
            <a:off x="6568734" y="3371170"/>
            <a:ext cx="1650775" cy="497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0" dirty="0">
              <a:solidFill>
                <a:srgbClr val="171717"/>
              </a:solidFill>
              <a:effectLst/>
            </a:endParaRPr>
          </a:p>
          <a:p>
            <a:pPr algn="ctr"/>
            <a:r>
              <a:rPr lang="en-US" sz="1600" i="0" dirty="0">
                <a:solidFill>
                  <a:srgbClr val="171717"/>
                </a:solidFill>
                <a:effectLst/>
              </a:rPr>
              <a:t>Send an HTTP Request</a:t>
            </a:r>
          </a:p>
          <a:p>
            <a:pPr algn="ctr"/>
            <a:endParaRPr lang="en-US" dirty="0"/>
          </a:p>
        </p:txBody>
      </p:sp>
      <p:sp>
        <p:nvSpPr>
          <p:cNvPr id="15" name="Rectangle 14">
            <a:extLst>
              <a:ext uri="{FF2B5EF4-FFF2-40B4-BE49-F238E27FC236}">
                <a16:creationId xmlns:a16="http://schemas.microsoft.com/office/drawing/2014/main" id="{9DF1E8C1-84D0-48FD-BDE7-BAB92B393BEB}"/>
              </a:ext>
            </a:extLst>
          </p:cNvPr>
          <p:cNvSpPr/>
          <p:nvPr/>
        </p:nvSpPr>
        <p:spPr>
          <a:xfrm>
            <a:off x="8429236" y="3379261"/>
            <a:ext cx="1650775" cy="497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600" i="0" dirty="0">
                <a:solidFill>
                  <a:srgbClr val="171717"/>
                </a:solidFill>
                <a:effectLst/>
              </a:rPr>
              <a:t>Tearing Down and Cleaning Up</a:t>
            </a:r>
          </a:p>
        </p:txBody>
      </p:sp>
      <p:cxnSp>
        <p:nvCxnSpPr>
          <p:cNvPr id="17" name="Straight Connector 16">
            <a:extLst>
              <a:ext uri="{FF2B5EF4-FFF2-40B4-BE49-F238E27FC236}">
                <a16:creationId xmlns:a16="http://schemas.microsoft.com/office/drawing/2014/main" id="{D3BDCA97-5FF4-4EB6-8267-FA685B9C61E2}"/>
              </a:ext>
            </a:extLst>
          </p:cNvPr>
          <p:cNvCxnSpPr>
            <a:stCxn id="4" idx="2"/>
          </p:cNvCxnSpPr>
          <p:nvPr/>
        </p:nvCxnSpPr>
        <p:spPr>
          <a:xfrm>
            <a:off x="5352881" y="2427611"/>
            <a:ext cx="0" cy="477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DC24B0B-28E7-4947-B37E-3A604B5D6107}"/>
              </a:ext>
            </a:extLst>
          </p:cNvPr>
          <p:cNvCxnSpPr/>
          <p:nvPr/>
        </p:nvCxnSpPr>
        <p:spPr>
          <a:xfrm>
            <a:off x="5352881" y="2905041"/>
            <a:ext cx="3823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FC333AC-389F-4431-8849-250C0DEA2FBB}"/>
              </a:ext>
            </a:extLst>
          </p:cNvPr>
          <p:cNvCxnSpPr/>
          <p:nvPr/>
        </p:nvCxnSpPr>
        <p:spPr>
          <a:xfrm>
            <a:off x="1681794" y="2905041"/>
            <a:ext cx="3823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767C090-17E1-4BBA-B806-F18C132E8725}"/>
              </a:ext>
            </a:extLst>
          </p:cNvPr>
          <p:cNvCxnSpPr>
            <a:endCxn id="9" idx="0"/>
          </p:cNvCxnSpPr>
          <p:nvPr/>
        </p:nvCxnSpPr>
        <p:spPr>
          <a:xfrm>
            <a:off x="1681794" y="2905041"/>
            <a:ext cx="0" cy="47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0013BC5-B5CC-4B86-B0A1-1F790F1A6009}"/>
              </a:ext>
            </a:extLst>
          </p:cNvPr>
          <p:cNvCxnSpPr/>
          <p:nvPr/>
        </p:nvCxnSpPr>
        <p:spPr>
          <a:xfrm>
            <a:off x="3593537" y="2925345"/>
            <a:ext cx="0" cy="47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5DFA79A-BA7D-4395-ADF1-E79D290626E2}"/>
              </a:ext>
            </a:extLst>
          </p:cNvPr>
          <p:cNvCxnSpPr/>
          <p:nvPr/>
        </p:nvCxnSpPr>
        <p:spPr>
          <a:xfrm>
            <a:off x="5352881" y="2905041"/>
            <a:ext cx="0" cy="47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BF37F3-F379-4D4B-9D85-40A9DE6C537F}"/>
              </a:ext>
            </a:extLst>
          </p:cNvPr>
          <p:cNvCxnSpPr/>
          <p:nvPr/>
        </p:nvCxnSpPr>
        <p:spPr>
          <a:xfrm>
            <a:off x="7384998" y="2896950"/>
            <a:ext cx="0" cy="47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3B2EBEF-D094-40C2-90F6-D06DFD7EAE52}"/>
              </a:ext>
            </a:extLst>
          </p:cNvPr>
          <p:cNvCxnSpPr/>
          <p:nvPr/>
        </p:nvCxnSpPr>
        <p:spPr>
          <a:xfrm>
            <a:off x="9176368" y="2905041"/>
            <a:ext cx="0" cy="47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7251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C7BD-6F2F-5143-A996-D01CBF63184B}"/>
              </a:ext>
            </a:extLst>
          </p:cNvPr>
          <p:cNvSpPr>
            <a:spLocks noGrp="1"/>
          </p:cNvSpPr>
          <p:nvPr>
            <p:ph type="title"/>
          </p:nvPr>
        </p:nvSpPr>
        <p:spPr>
          <a:xfrm>
            <a:off x="497902" y="602858"/>
            <a:ext cx="10645935" cy="368589"/>
          </a:xfrm>
        </p:spPr>
        <p:txBody>
          <a:bodyPr/>
          <a:lstStyle/>
          <a:p>
            <a:r>
              <a:rPr lang="en-US" sz="2000" b="1" i="0" dirty="0">
                <a:solidFill>
                  <a:srgbClr val="171717"/>
                </a:solidFill>
                <a:effectLst/>
                <a:latin typeface="-apple-system"/>
              </a:rPr>
              <a:t>Local Processing</a:t>
            </a:r>
            <a:endParaRPr lang="en-US" dirty="0"/>
          </a:p>
        </p:txBody>
      </p:sp>
      <p:sp>
        <p:nvSpPr>
          <p:cNvPr id="4" name="TextBox 3">
            <a:extLst>
              <a:ext uri="{FF2B5EF4-FFF2-40B4-BE49-F238E27FC236}">
                <a16:creationId xmlns:a16="http://schemas.microsoft.com/office/drawing/2014/main" id="{9148CB90-C710-4E06-AEE2-4A7F37B14028}"/>
              </a:ext>
            </a:extLst>
          </p:cNvPr>
          <p:cNvSpPr txBox="1"/>
          <p:nvPr/>
        </p:nvSpPr>
        <p:spPr>
          <a:xfrm>
            <a:off x="586915" y="1602223"/>
            <a:ext cx="8648120" cy="1908215"/>
          </a:xfrm>
          <a:prstGeom prst="rect">
            <a:avLst/>
          </a:prstGeom>
          <a:noFill/>
        </p:spPr>
        <p:txBody>
          <a:bodyPr wrap="square">
            <a:spAutoFit/>
          </a:bodyPr>
          <a:lstStyle/>
          <a:p>
            <a:pPr algn="l"/>
            <a:r>
              <a:rPr lang="en-US" sz="2000" i="0" dirty="0">
                <a:solidFill>
                  <a:srgbClr val="171717"/>
                </a:solidFill>
                <a:effectLst/>
              </a:rPr>
              <a:t>Your browser extracts the "scheme"/protocol (we have established</a:t>
            </a:r>
          </a:p>
          <a:p>
            <a:pPr algn="l"/>
            <a:r>
              <a:rPr lang="en-US" sz="2000" i="0" dirty="0">
                <a:solidFill>
                  <a:srgbClr val="171717"/>
                </a:solidFill>
                <a:effectLst/>
              </a:rPr>
              <a:t>that this will be HTTP), host (www.example.com),</a:t>
            </a:r>
          </a:p>
          <a:p>
            <a:pPr algn="l"/>
            <a:r>
              <a:rPr lang="en-US" sz="2000" i="0" dirty="0">
                <a:solidFill>
                  <a:srgbClr val="171717"/>
                </a:solidFill>
                <a:effectLst/>
              </a:rPr>
              <a:t>and optional port number, resource path, and query strings that are specified in the form</a:t>
            </a:r>
          </a:p>
          <a:p>
            <a:pPr algn="l"/>
            <a:r>
              <a:rPr lang="en-US" sz="2000" i="0" dirty="0">
                <a:solidFill>
                  <a:srgbClr val="171717"/>
                </a:solidFill>
                <a:effectLst/>
              </a:rPr>
              <a:t>&lt;protocol&gt;://&lt;host&gt;&lt;:optional port&gt;/&lt;path/to/resource&gt;&lt;?query&gt;</a:t>
            </a:r>
          </a:p>
          <a:p>
            <a:pPr algn="l"/>
            <a:endParaRPr lang="en-US" dirty="0">
              <a:solidFill>
                <a:srgbClr val="171717"/>
              </a:solidFill>
            </a:endParaRPr>
          </a:p>
        </p:txBody>
      </p:sp>
    </p:spTree>
    <p:extLst>
      <p:ext uri="{BB962C8B-B14F-4D97-AF65-F5344CB8AC3E}">
        <p14:creationId xmlns:p14="http://schemas.microsoft.com/office/powerpoint/2010/main" val="3155930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7346C9-2B30-4A8C-A538-2227BFF8BC68}"/>
              </a:ext>
            </a:extLst>
          </p:cNvPr>
          <p:cNvSpPr txBox="1"/>
          <p:nvPr/>
        </p:nvSpPr>
        <p:spPr>
          <a:xfrm>
            <a:off x="499682" y="592170"/>
            <a:ext cx="7163475" cy="523220"/>
          </a:xfrm>
          <a:prstGeom prst="rect">
            <a:avLst/>
          </a:prstGeom>
          <a:noFill/>
        </p:spPr>
        <p:txBody>
          <a:bodyPr wrap="square">
            <a:spAutoFit/>
          </a:bodyPr>
          <a:lstStyle/>
          <a:p>
            <a:pPr algn="l"/>
            <a:r>
              <a:rPr lang="en-US" sz="2800" b="1" i="0" dirty="0">
                <a:solidFill>
                  <a:srgbClr val="171717"/>
                </a:solidFill>
                <a:effectLst/>
                <a:latin typeface="-apple-system"/>
              </a:rPr>
              <a:t>Resolve an IP</a:t>
            </a:r>
          </a:p>
        </p:txBody>
      </p:sp>
      <p:sp>
        <p:nvSpPr>
          <p:cNvPr id="9" name="TextBox 8">
            <a:extLst>
              <a:ext uri="{FF2B5EF4-FFF2-40B4-BE49-F238E27FC236}">
                <a16:creationId xmlns:a16="http://schemas.microsoft.com/office/drawing/2014/main" id="{2EE90F2C-F2E0-4C65-A921-539F63D181EF}"/>
              </a:ext>
            </a:extLst>
          </p:cNvPr>
          <p:cNvSpPr txBox="1"/>
          <p:nvPr/>
        </p:nvSpPr>
        <p:spPr>
          <a:xfrm>
            <a:off x="499682" y="1253846"/>
            <a:ext cx="10367922" cy="2585323"/>
          </a:xfrm>
          <a:prstGeom prst="rect">
            <a:avLst/>
          </a:prstGeom>
          <a:noFill/>
        </p:spPr>
        <p:txBody>
          <a:bodyPr wrap="square">
            <a:spAutoFit/>
          </a:bodyPr>
          <a:lstStyle/>
          <a:p>
            <a:r>
              <a:rPr lang="en-US" b="0" i="0" dirty="0">
                <a:solidFill>
                  <a:srgbClr val="171717"/>
                </a:solidFill>
                <a:effectLst/>
                <a:latin typeface="-apple-system"/>
              </a:rPr>
              <a:t>Like the processing done locally, resolving an IP from a "DNS server" is a sequence that includes many steps, and includes failovers if the first request fails to return an address.</a:t>
            </a:r>
          </a:p>
          <a:p>
            <a:endParaRPr lang="en-US" b="0" i="0" dirty="0">
              <a:solidFill>
                <a:srgbClr val="171717"/>
              </a:solidFill>
              <a:effectLst/>
              <a:latin typeface="-apple-system"/>
            </a:endParaRPr>
          </a:p>
          <a:p>
            <a:r>
              <a:rPr lang="en-US" b="0" i="0" dirty="0">
                <a:solidFill>
                  <a:srgbClr val="171717"/>
                </a:solidFill>
                <a:effectLst/>
                <a:latin typeface="-apple-system"/>
              </a:rPr>
              <a:t>If the cache lookup fails (we will assume it does), your browser fires off a </a:t>
            </a:r>
            <a:r>
              <a:rPr lang="en-US" i="1" dirty="0">
                <a:latin typeface="-apple-system"/>
              </a:rPr>
              <a:t>DNS request</a:t>
            </a:r>
            <a:r>
              <a:rPr lang="en-US" b="0" i="0" dirty="0">
                <a:solidFill>
                  <a:srgbClr val="171717"/>
                </a:solidFill>
                <a:effectLst/>
                <a:latin typeface="-apple-system"/>
              </a:rPr>
              <a:t> using </a:t>
            </a:r>
            <a:r>
              <a:rPr lang="en-US" i="1" dirty="0">
                <a:latin typeface="-apple-system"/>
              </a:rPr>
              <a:t>UDP</a:t>
            </a:r>
            <a:r>
              <a:rPr lang="en-US" b="0" i="0" dirty="0">
                <a:solidFill>
                  <a:srgbClr val="171717"/>
                </a:solidFill>
                <a:effectLst/>
                <a:latin typeface="-apple-system"/>
              </a:rPr>
              <a:t> The DNS request contains the preconfigured IP for your DNS server and your return IP in its header. The hostname for which you are trying to resolve an IP is in the request’s "Question" section. UDP is a lightweight protocol, but the tradeoff is that it offers no guarantees in terms of delivery, and there is no acknowledgement other than a response being sent and received.</a:t>
            </a:r>
          </a:p>
          <a:p>
            <a:endParaRPr lang="en-US" dirty="0"/>
          </a:p>
        </p:txBody>
      </p:sp>
      <p:pic>
        <p:nvPicPr>
          <p:cNvPr id="10" name="Recorded with FlexClip Screen Recorder">
            <a:hlinkClick r:id="" action="ppaction://media"/>
            <a:extLst>
              <a:ext uri="{FF2B5EF4-FFF2-40B4-BE49-F238E27FC236}">
                <a16:creationId xmlns:a16="http://schemas.microsoft.com/office/drawing/2014/main" id="{B64D95D5-7C9B-4120-853F-891BE547BEB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l="31317" r="31449"/>
          <a:stretch/>
        </p:blipFill>
        <p:spPr>
          <a:xfrm>
            <a:off x="4580092" y="3545601"/>
            <a:ext cx="2257678" cy="2559243"/>
          </a:xfrm>
          <a:prstGeom prst="rect">
            <a:avLst/>
          </a:prstGeom>
        </p:spPr>
      </p:pic>
    </p:spTree>
    <p:extLst>
      <p:ext uri="{BB962C8B-B14F-4D97-AF65-F5344CB8AC3E}">
        <p14:creationId xmlns:p14="http://schemas.microsoft.com/office/powerpoint/2010/main" val="40887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7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543646"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sp>
        <p:nvSpPr>
          <p:cNvPr id="7" name="TextBox 6">
            <a:extLst>
              <a:ext uri="{FF2B5EF4-FFF2-40B4-BE49-F238E27FC236}">
                <a16:creationId xmlns:a16="http://schemas.microsoft.com/office/drawing/2014/main" id="{7506C684-636D-4786-910B-B80E5D44374A}"/>
              </a:ext>
            </a:extLst>
          </p:cNvPr>
          <p:cNvSpPr txBox="1"/>
          <p:nvPr/>
        </p:nvSpPr>
        <p:spPr>
          <a:xfrm>
            <a:off x="436969" y="1160148"/>
            <a:ext cx="11126549" cy="3970318"/>
          </a:xfrm>
          <a:prstGeom prst="rect">
            <a:avLst/>
          </a:prstGeom>
          <a:noFill/>
        </p:spPr>
        <p:txBody>
          <a:bodyPr wrap="square">
            <a:spAutoFit/>
          </a:bodyPr>
          <a:lstStyle/>
          <a:p>
            <a:pPr algn="l">
              <a:buFont typeface="+mj-lt"/>
              <a:buAutoNum type="arabicPeriod"/>
            </a:pPr>
            <a:r>
              <a:rPr lang="en-US" b="0" i="0" dirty="0">
                <a:solidFill>
                  <a:srgbClr val="171717"/>
                </a:solidFill>
                <a:effectLst/>
                <a:latin typeface="-apple-system"/>
              </a:rPr>
              <a:t>Your request will now have to travel many network devices to reach its target DNS server. Whenever the packet hits a piece of networking equipment, the device uses a routing table to determine which other device it is connected to that is most likely situated along the shortest path to the destination</a:t>
            </a:r>
            <a:r>
              <a:rPr lang="en-US" dirty="0">
                <a:solidFill>
                  <a:srgbClr val="171717"/>
                </a:solidFill>
                <a:latin typeface="-apple-system"/>
              </a:rPr>
              <a:t>.</a:t>
            </a:r>
          </a:p>
          <a:p>
            <a:pPr algn="l">
              <a:buFont typeface="+mj-lt"/>
              <a:buAutoNum type="arabicPeriod"/>
            </a:pPr>
            <a:endParaRPr lang="en-US" b="0" i="0" dirty="0">
              <a:solidFill>
                <a:srgbClr val="171717"/>
              </a:solidFill>
              <a:effectLst/>
              <a:latin typeface="-apple-system"/>
            </a:endParaRPr>
          </a:p>
          <a:p>
            <a:pPr algn="l">
              <a:buFont typeface="+mj-lt"/>
              <a:buAutoNum type="arabicPeriod"/>
            </a:pPr>
            <a:r>
              <a:rPr lang="en-US" b="0" i="0" dirty="0">
                <a:solidFill>
                  <a:srgbClr val="171717"/>
                </a:solidFill>
                <a:effectLst/>
                <a:latin typeface="-apple-system"/>
              </a:rPr>
              <a:t>Once your request arrives at your configured DNS server, the server looks for the address associated with the requested hostname. If it finds one, it sends a response. If, on the other hand, the DNS server you have targeted cannot locate the given hostname, it passes the request along to another DNS server it is configured to </a:t>
            </a:r>
            <a:r>
              <a:rPr lang="en-US" b="0" i="1" dirty="0">
                <a:solidFill>
                  <a:srgbClr val="171717"/>
                </a:solidFill>
                <a:effectLst/>
                <a:latin typeface="-apple-system"/>
              </a:rPr>
              <a:t>defer</a:t>
            </a:r>
            <a:r>
              <a:rPr lang="en-US" b="0" i="0" dirty="0">
                <a:solidFill>
                  <a:srgbClr val="171717"/>
                </a:solidFill>
                <a:effectLst/>
                <a:latin typeface="-apple-system"/>
              </a:rPr>
              <a:t> to. This happens recursively until the address is found, or an </a:t>
            </a:r>
            <a:r>
              <a:rPr lang="en-US" i="1" dirty="0">
                <a:solidFill>
                  <a:srgbClr val="171717"/>
                </a:solidFill>
                <a:latin typeface="-apple-system"/>
              </a:rPr>
              <a:t>"authoritative" nameserver </a:t>
            </a:r>
            <a:r>
              <a:rPr lang="en-US" b="0" i="0" dirty="0">
                <a:solidFill>
                  <a:srgbClr val="171717"/>
                </a:solidFill>
                <a:effectLst/>
                <a:latin typeface="-apple-system"/>
              </a:rPr>
              <a:t>is hit. If an address for the given domain cannot be resolved, the server responds with a failure and your browser returns an error.</a:t>
            </a:r>
          </a:p>
          <a:p>
            <a:pPr algn="l">
              <a:buFont typeface="+mj-lt"/>
              <a:buAutoNum type="arabicPeriod"/>
            </a:pPr>
            <a:endParaRPr lang="en-US" dirty="0">
              <a:solidFill>
                <a:srgbClr val="171717"/>
              </a:solidFill>
              <a:latin typeface="-apple-system"/>
            </a:endParaRPr>
          </a:p>
          <a:p>
            <a:pPr algn="l">
              <a:buFont typeface="+mj-lt"/>
              <a:buAutoNum type="arabicPeriod"/>
            </a:pPr>
            <a:endParaRPr lang="en-US" b="0" i="0" dirty="0">
              <a:solidFill>
                <a:srgbClr val="171717"/>
              </a:solidFill>
              <a:effectLst/>
              <a:latin typeface="-apple-system"/>
            </a:endParaRPr>
          </a:p>
          <a:p>
            <a:pPr algn="l">
              <a:buFont typeface="+mj-lt"/>
              <a:buAutoNum type="arabicPeriod"/>
            </a:pPr>
            <a:r>
              <a:rPr lang="en-US" b="0" i="0" dirty="0">
                <a:solidFill>
                  <a:srgbClr val="171717"/>
                </a:solidFill>
                <a:effectLst/>
                <a:latin typeface="-apple-system"/>
              </a:rPr>
              <a:t>We will assume the request is successful though, given that all of this is still a precursor. If the response makes it back (remember, with UDP there’s no guarantee!), the requesting client now has a target IP. It will also have received a piece of information as part of the answer that will let it know how long the returned answer can be cached for.</a:t>
            </a:r>
          </a:p>
        </p:txBody>
      </p:sp>
      <p:sp>
        <p:nvSpPr>
          <p:cNvPr id="8" name="TextBox 7">
            <a:extLst>
              <a:ext uri="{FF2B5EF4-FFF2-40B4-BE49-F238E27FC236}">
                <a16:creationId xmlns:a16="http://schemas.microsoft.com/office/drawing/2014/main" id="{CAE23FFE-A74B-418D-B197-D1D361FCC939}"/>
              </a:ext>
            </a:extLst>
          </p:cNvPr>
          <p:cNvSpPr txBox="1"/>
          <p:nvPr/>
        </p:nvSpPr>
        <p:spPr>
          <a:xfrm>
            <a:off x="494972" y="576021"/>
            <a:ext cx="6097348" cy="523220"/>
          </a:xfrm>
          <a:prstGeom prst="rect">
            <a:avLst/>
          </a:prstGeom>
          <a:noFill/>
        </p:spPr>
        <p:txBody>
          <a:bodyPr wrap="square">
            <a:spAutoFit/>
          </a:bodyPr>
          <a:lstStyle/>
          <a:p>
            <a:pPr algn="l"/>
            <a:r>
              <a:rPr lang="en-US" sz="2800" b="1" i="0" dirty="0">
                <a:solidFill>
                  <a:srgbClr val="171717"/>
                </a:solidFill>
                <a:effectLst/>
                <a:latin typeface="-apple-system"/>
              </a:rPr>
              <a:t>Resolve an IP</a:t>
            </a:r>
          </a:p>
        </p:txBody>
      </p:sp>
    </p:spTree>
    <p:extLst>
      <p:ext uri="{BB962C8B-B14F-4D97-AF65-F5344CB8AC3E}">
        <p14:creationId xmlns:p14="http://schemas.microsoft.com/office/powerpoint/2010/main" val="3998464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543646"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sp>
        <p:nvSpPr>
          <p:cNvPr id="3" name="Rectangle 2">
            <a:extLst>
              <a:ext uri="{FF2B5EF4-FFF2-40B4-BE49-F238E27FC236}">
                <a16:creationId xmlns:a16="http://schemas.microsoft.com/office/drawing/2014/main" id="{FF4E174F-8BBE-4B14-B1B8-4FBAF42BF29F}"/>
              </a:ext>
            </a:extLst>
          </p:cNvPr>
          <p:cNvSpPr>
            <a:spLocks noChangeArrowheads="1"/>
          </p:cNvSpPr>
          <p:nvPr/>
        </p:nvSpPr>
        <p:spPr bwMode="auto">
          <a:xfrm>
            <a:off x="536171" y="843677"/>
            <a:ext cx="11119658"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171717"/>
                </a:solidFill>
                <a:effectLst/>
              </a:rPr>
              <a:t>Now that the client has an IP address, it can send an </a:t>
            </a:r>
            <a:r>
              <a:rPr kumimoji="0" lang="en-US" altLang="en-US" sz="1500" b="0" i="0" u="none" strike="noStrike" cap="none" normalizeH="0" baseline="0" dirty="0" err="1">
                <a:ln>
                  <a:noFill/>
                </a:ln>
                <a:solidFill>
                  <a:srgbClr val="171717"/>
                </a:solidFill>
                <a:effectLst/>
              </a:rPr>
              <a:t>HTTPrequest</a:t>
            </a:r>
            <a:r>
              <a:rPr kumimoji="0" lang="en-US" altLang="en-US" sz="1500" b="0" i="0" u="none" strike="noStrike" cap="none" normalizeH="0" baseline="0" dirty="0">
                <a:ln>
                  <a:noFill/>
                </a:ln>
                <a:solidFill>
                  <a:srgbClr val="171717"/>
                </a:solidFill>
                <a:effectLst/>
              </a:rPr>
              <a:t>, right? Almost, but first, since the request is sent over </a:t>
            </a:r>
            <a:r>
              <a:rPr kumimoji="0" lang="en-US" altLang="en-US" sz="1500" b="0" i="1" u="sng" strike="noStrike" cap="none" normalizeH="0" baseline="0" dirty="0">
                <a:ln>
                  <a:noFill/>
                </a:ln>
                <a:solidFill>
                  <a:srgbClr val="171717"/>
                </a:solidFill>
                <a:effectLst/>
              </a:rPr>
              <a:t>TCP</a:t>
            </a:r>
            <a:r>
              <a:rPr kumimoji="0" lang="en-US" altLang="en-US" sz="1500" b="0" i="0" u="none" strike="noStrike" cap="none" normalizeH="0" baseline="0" dirty="0">
                <a:ln>
                  <a:noFill/>
                </a:ln>
                <a:solidFill>
                  <a:srgbClr val="171717"/>
                </a:solidFill>
                <a:effectLst/>
              </a:rPr>
              <a:t>, which is a </a:t>
            </a:r>
            <a:r>
              <a:rPr kumimoji="0" lang="en-US" altLang="en-US" sz="1500" b="0" i="1" u="none" strike="noStrike" cap="none" normalizeH="0" baseline="0" dirty="0">
                <a:ln>
                  <a:noFill/>
                </a:ln>
                <a:solidFill>
                  <a:srgbClr val="171717"/>
                </a:solidFill>
                <a:effectLst/>
              </a:rPr>
              <a:t>transport layer protocol</a:t>
            </a:r>
            <a:r>
              <a:rPr kumimoji="0" lang="en-US" altLang="en-US" sz="1500" b="0" i="0" u="none" strike="noStrike" cap="none" normalizeH="0" baseline="0" dirty="0">
                <a:ln>
                  <a:noFill/>
                </a:ln>
                <a:solidFill>
                  <a:srgbClr val="171717"/>
                </a:solidFill>
                <a:effectLst/>
              </a:rPr>
              <a:t> like UDP, the client must open a TCP connection.</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a:ln>
                  <a:noFill/>
                </a:ln>
                <a:solidFill>
                  <a:srgbClr val="171717"/>
                </a:solidFill>
                <a:effectLst/>
              </a:rPr>
              <a:t>One of the key differences between TCP and UDP is that TCP ensures delivery and ordered data transmission. Much of this is done very simply, using what’s known as a </a:t>
            </a:r>
            <a:r>
              <a:rPr kumimoji="0" lang="en-US" altLang="en-US" sz="1500" b="0" i="1" u="none" strike="noStrike" cap="none" normalizeH="0" baseline="0" dirty="0">
                <a:ln>
                  <a:noFill/>
                </a:ln>
                <a:solidFill>
                  <a:srgbClr val="171717"/>
                </a:solidFill>
                <a:effectLst/>
              </a:rPr>
              <a:t>sequence number</a:t>
            </a:r>
            <a:r>
              <a:rPr kumimoji="0" lang="en-US" altLang="en-US" sz="1500" b="0" i="0" u="none" strike="noStrike" cap="none" normalizeH="0" baseline="0" dirty="0">
                <a:ln>
                  <a:noFill/>
                </a:ln>
                <a:solidFill>
                  <a:srgbClr val="171717"/>
                </a:solidFill>
                <a:effectLst/>
              </a:rPr>
              <a:t> for every byte sent. This allows the receiver to re-order received packets back into their original order, and allows the sender to retransmit any packet that does not get acknowledged by the receiver.</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500" b="0" i="0" u="none" strike="noStrike" cap="none" normalizeH="0" baseline="0" dirty="0">
              <a:ln>
                <a:noFill/>
              </a:ln>
              <a:solidFill>
                <a:srgbClr val="171717"/>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a:ln>
                  <a:noFill/>
                </a:ln>
                <a:solidFill>
                  <a:srgbClr val="171717"/>
                </a:solidFill>
                <a:effectLst/>
              </a:rPr>
              <a:t>These guarantees and more can be found on Wikipedia, and are worth reading about, but what’s most relevant is that TCP connections are opened using what’s known as a </a:t>
            </a:r>
            <a:r>
              <a:rPr kumimoji="0" lang="en-US" altLang="en-US" sz="1500" b="0" i="1" u="none" strike="noStrike" cap="none" normalizeH="0" baseline="0" dirty="0">
                <a:ln>
                  <a:noFill/>
                </a:ln>
                <a:solidFill>
                  <a:srgbClr val="171717"/>
                </a:solidFill>
                <a:effectLst/>
              </a:rPr>
              <a:t>three-way handshake</a:t>
            </a:r>
            <a:r>
              <a:rPr kumimoji="0" lang="en-US" altLang="en-US" sz="1500" b="0" i="0" u="none" strike="noStrike" cap="none" normalizeH="0" baseline="0" dirty="0">
                <a:ln>
                  <a:noFill/>
                </a:ln>
                <a:solidFill>
                  <a:srgbClr val="171717"/>
                </a:solidFill>
                <a:effectLst/>
              </a:rPr>
              <a:t>. The server must already be "listening" on a port, performing a </a:t>
            </a:r>
            <a:r>
              <a:rPr kumimoji="0" lang="en-US" altLang="en-US" sz="1500" b="0" i="1" u="none" strike="noStrike" cap="none" normalizeH="0" baseline="0" dirty="0">
                <a:ln>
                  <a:noFill/>
                </a:ln>
                <a:solidFill>
                  <a:srgbClr val="171717"/>
                </a:solidFill>
                <a:effectLst/>
              </a:rPr>
              <a:t>passive open</a:t>
            </a:r>
            <a:r>
              <a:rPr kumimoji="0" lang="en-US" altLang="en-US" sz="1500" b="0" i="0" u="none" strike="noStrike" cap="none" normalizeH="0" baseline="0" dirty="0">
                <a:ln>
                  <a:noFill/>
                </a:ln>
                <a:solidFill>
                  <a:srgbClr val="171717"/>
                </a:solidFill>
                <a:effectLst/>
              </a:rPr>
              <a:t>, after which the client can initiate an </a:t>
            </a:r>
            <a:r>
              <a:rPr kumimoji="0" lang="en-US" altLang="en-US" sz="1500" b="0" i="1" u="none" strike="noStrike" cap="none" normalizeH="0" baseline="0" dirty="0">
                <a:ln>
                  <a:noFill/>
                </a:ln>
                <a:solidFill>
                  <a:srgbClr val="171717"/>
                </a:solidFill>
                <a:effectLst/>
              </a:rPr>
              <a:t>active open</a:t>
            </a:r>
            <a:r>
              <a:rPr kumimoji="0" lang="en-US" altLang="en-US" sz="1500" b="0" i="0" u="none" strike="noStrike" cap="none" normalizeH="0" baseline="0" dirty="0">
                <a:ln>
                  <a:noFill/>
                </a:ln>
                <a:solidFill>
                  <a:srgbClr val="171717"/>
                </a:solidFill>
                <a:effectLst/>
              </a:rPr>
              <a:t>, and the handshake works as follows:</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a:ln>
                  <a:noFill/>
                </a:ln>
                <a:solidFill>
                  <a:srgbClr val="171717"/>
                </a:solidFill>
                <a:effectLst/>
              </a:rPr>
              <a:t>The client initiates the active open by sending a </a:t>
            </a:r>
            <a:r>
              <a:rPr kumimoji="0" lang="en-US" altLang="en-US" sz="1500" b="0" i="0" u="none" strike="noStrike" cap="none" normalizeH="0" baseline="0" dirty="0">
                <a:ln>
                  <a:noFill/>
                </a:ln>
                <a:solidFill>
                  <a:srgbClr val="171717"/>
                </a:solidFill>
                <a:effectLst/>
                <a:highlight>
                  <a:srgbClr val="8C5AA5"/>
                </a:highlight>
              </a:rPr>
              <a:t>SYN</a:t>
            </a:r>
            <a:r>
              <a:rPr kumimoji="0" lang="en-US" altLang="en-US" sz="1500" b="0" i="0" u="none" strike="noStrike" cap="none" normalizeH="0" baseline="0" dirty="0">
                <a:ln>
                  <a:noFill/>
                </a:ln>
                <a:solidFill>
                  <a:srgbClr val="171717"/>
                </a:solidFill>
                <a:effectLst/>
              </a:rPr>
              <a:t> "control" packet to the server. The client sets the </a:t>
            </a:r>
            <a:r>
              <a:rPr kumimoji="0" lang="en-US" altLang="en-US" sz="1500" b="0" i="1" u="none" strike="noStrike" cap="none" normalizeH="0" baseline="0" dirty="0">
                <a:ln>
                  <a:noFill/>
                </a:ln>
                <a:solidFill>
                  <a:srgbClr val="171717"/>
                </a:solidFill>
                <a:effectLst/>
              </a:rPr>
              <a:t>sequence number</a:t>
            </a:r>
            <a:r>
              <a:rPr kumimoji="0" lang="en-US" altLang="en-US" sz="1500" b="0" i="0" u="none" strike="noStrike" cap="none" normalizeH="0" baseline="0" dirty="0">
                <a:ln>
                  <a:noFill/>
                </a:ln>
                <a:solidFill>
                  <a:srgbClr val="171717"/>
                </a:solidFill>
                <a:effectLst/>
              </a:rPr>
              <a:t> for the first packet to a random value purposely, in service of security. We’ll refer to this number as</a:t>
            </a:r>
            <a:r>
              <a:rPr kumimoji="0" lang="en-US" altLang="en-US" sz="1500" b="0" i="0" u="none" strike="noStrike" cap="none" normalizeH="0" baseline="0" dirty="0">
                <a:ln>
                  <a:noFill/>
                </a:ln>
                <a:solidFill>
                  <a:srgbClr val="171717"/>
                </a:solidFill>
                <a:effectLst/>
                <a:highlight>
                  <a:srgbClr val="8C5AA5"/>
                </a:highlight>
              </a:rPr>
              <a:t> x </a:t>
            </a:r>
            <a:r>
              <a:rPr kumimoji="0" lang="en-US" altLang="en-US" sz="1500" b="0" i="0" u="none" strike="noStrike" cap="none" normalizeH="0" baseline="0" dirty="0">
                <a:ln>
                  <a:noFill/>
                </a:ln>
                <a:solidFill>
                  <a:srgbClr val="171717"/>
                </a:solidFill>
                <a:effectLst/>
              </a:rPr>
              <a:t>for now.</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a:ln>
                  <a:noFill/>
                </a:ln>
                <a:solidFill>
                  <a:srgbClr val="171717"/>
                </a:solidFill>
                <a:effectLst/>
              </a:rPr>
              <a:t>The server responds with a</a:t>
            </a:r>
            <a:r>
              <a:rPr kumimoji="0" lang="en-US" altLang="en-US" sz="1500" b="0" i="0" u="none" strike="noStrike" cap="none" normalizeH="0" baseline="0" dirty="0">
                <a:ln>
                  <a:noFill/>
                </a:ln>
                <a:solidFill>
                  <a:srgbClr val="171717"/>
                </a:solidFill>
                <a:effectLst/>
                <a:highlight>
                  <a:srgbClr val="8C5AA5"/>
                </a:highlight>
              </a:rPr>
              <a:t> SYN-ACK </a:t>
            </a:r>
            <a:r>
              <a:rPr kumimoji="0" lang="en-US" altLang="en-US" sz="1500" b="0" i="0" u="none" strike="noStrike" cap="none" normalizeH="0" baseline="0" dirty="0">
                <a:ln>
                  <a:noFill/>
                </a:ln>
                <a:solidFill>
                  <a:srgbClr val="171717"/>
                </a:solidFill>
                <a:effectLst/>
              </a:rPr>
              <a:t>message, which contains an </a:t>
            </a:r>
            <a:r>
              <a:rPr kumimoji="0" lang="en-US" altLang="en-US" sz="1500" b="0" i="1" u="none" strike="noStrike" cap="none" normalizeH="0" baseline="0" dirty="0">
                <a:ln>
                  <a:noFill/>
                </a:ln>
                <a:solidFill>
                  <a:srgbClr val="171717"/>
                </a:solidFill>
                <a:effectLst/>
              </a:rPr>
              <a:t>acknowledgement number</a:t>
            </a:r>
            <a:r>
              <a:rPr kumimoji="0" lang="en-US" altLang="en-US" sz="1500" b="0" i="0" u="none" strike="noStrike" cap="none" normalizeH="0" baseline="0" dirty="0">
                <a:ln>
                  <a:noFill/>
                </a:ln>
                <a:solidFill>
                  <a:srgbClr val="171717"/>
                </a:solidFill>
                <a:effectLst/>
              </a:rPr>
              <a:t> for the original message that is always x+1, and a new sequence number for the response itself, which is another random number</a:t>
            </a:r>
            <a:r>
              <a:rPr lang="en-US" altLang="en-US" sz="1500" dirty="0">
                <a:solidFill>
                  <a:srgbClr val="171717"/>
                </a:solidFill>
                <a:highlight>
                  <a:srgbClr val="8C5AA5"/>
                </a:highlight>
              </a:rPr>
              <a:t> </a:t>
            </a:r>
            <a:r>
              <a:rPr kumimoji="0" lang="en-US" altLang="en-US" sz="1500" b="0" i="0" u="none" strike="noStrike" cap="none" normalizeH="0" baseline="0" dirty="0">
                <a:ln>
                  <a:noFill/>
                </a:ln>
                <a:solidFill>
                  <a:srgbClr val="171717"/>
                </a:solidFill>
                <a:effectLst/>
                <a:highlight>
                  <a:srgbClr val="8C5AA5"/>
                </a:highlight>
              </a:rPr>
              <a:t>y</a:t>
            </a:r>
            <a:r>
              <a:rPr kumimoji="0" lang="en-US" altLang="en-US" sz="1500" b="0" i="0" u="none" strike="noStrike" cap="none" normalizeH="0" baseline="0" dirty="0">
                <a:ln>
                  <a:noFill/>
                </a:ln>
                <a:solidFill>
                  <a:srgbClr val="171717"/>
                </a:solidFill>
                <a:effectLst/>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a:ln>
                  <a:noFill/>
                </a:ln>
                <a:solidFill>
                  <a:srgbClr val="171717"/>
                </a:solidFill>
                <a:effectLst/>
              </a:rPr>
              <a:t>In the third step, the client sends an </a:t>
            </a:r>
            <a:r>
              <a:rPr kumimoji="0" lang="en-US" altLang="en-US" sz="1500" b="0" i="0" u="none" strike="noStrike" cap="none" normalizeH="0" baseline="0" dirty="0">
                <a:ln>
                  <a:noFill/>
                </a:ln>
                <a:solidFill>
                  <a:srgbClr val="171717"/>
                </a:solidFill>
                <a:effectLst/>
                <a:highlight>
                  <a:srgbClr val="8C5AA5"/>
                </a:highlight>
              </a:rPr>
              <a:t>ACK</a:t>
            </a:r>
            <a:r>
              <a:rPr kumimoji="0" lang="en-US" altLang="en-US" sz="1500" b="0" i="0" u="none" strike="noStrike" cap="none" normalizeH="0" baseline="0" dirty="0">
                <a:ln>
                  <a:noFill/>
                </a:ln>
                <a:solidFill>
                  <a:srgbClr val="171717"/>
                </a:solidFill>
                <a:effectLst/>
              </a:rPr>
              <a:t> message back to the server with a sequence number equal to x+1, which should match the</a:t>
            </a:r>
            <a:r>
              <a:rPr kumimoji="0" lang="en-US" altLang="en-US" sz="1500" b="0" i="0" u="none" strike="noStrike" cap="none" normalizeH="0" baseline="0" dirty="0">
                <a:ln>
                  <a:noFill/>
                </a:ln>
                <a:solidFill>
                  <a:srgbClr val="171717"/>
                </a:solidFill>
                <a:effectLst/>
                <a:highlight>
                  <a:srgbClr val="8C5AA5"/>
                </a:highlight>
              </a:rPr>
              <a:t> SYN-ACK </a:t>
            </a:r>
            <a:r>
              <a:rPr kumimoji="0" lang="en-US" altLang="en-US" sz="1500" b="0" i="0" u="none" strike="noStrike" cap="none" normalizeH="0" baseline="0" dirty="0">
                <a:ln>
                  <a:noFill/>
                </a:ln>
                <a:solidFill>
                  <a:srgbClr val="171717"/>
                </a:solidFill>
                <a:effectLst/>
              </a:rPr>
              <a:t>message’s acknowledgment number and ensure that our data is being delivered reliably. The</a:t>
            </a:r>
            <a:r>
              <a:rPr kumimoji="0" lang="en-US" altLang="en-US" sz="1500" b="0" i="0" u="none" strike="noStrike" cap="none" normalizeH="0" baseline="0" dirty="0">
                <a:ln>
                  <a:noFill/>
                </a:ln>
                <a:solidFill>
                  <a:srgbClr val="171717"/>
                </a:solidFill>
                <a:effectLst/>
                <a:highlight>
                  <a:srgbClr val="8C5AA5"/>
                </a:highlight>
              </a:rPr>
              <a:t> ACK </a:t>
            </a:r>
            <a:r>
              <a:rPr kumimoji="0" lang="en-US" altLang="en-US" sz="1500" b="0" i="0" u="none" strike="noStrike" cap="none" normalizeH="0" baseline="0" dirty="0">
                <a:ln>
                  <a:noFill/>
                </a:ln>
                <a:solidFill>
                  <a:srgbClr val="171717"/>
                </a:solidFill>
                <a:effectLst/>
              </a:rPr>
              <a:t>message’s acknowledgment number (since it is </a:t>
            </a:r>
            <a:r>
              <a:rPr kumimoji="0" lang="en-US" altLang="en-US" sz="1500" b="0" i="1" u="none" strike="noStrike" cap="none" normalizeH="0" baseline="0" dirty="0">
                <a:ln>
                  <a:noFill/>
                </a:ln>
                <a:solidFill>
                  <a:srgbClr val="171717"/>
                </a:solidFill>
                <a:effectLst/>
              </a:rPr>
              <a:t>acknowledging</a:t>
            </a:r>
            <a:r>
              <a:rPr kumimoji="0" lang="en-US" altLang="en-US" sz="1500" b="0" i="0" u="none" strike="noStrike" cap="none" normalizeH="0" baseline="0" dirty="0">
                <a:ln>
                  <a:noFill/>
                </a:ln>
                <a:solidFill>
                  <a:srgbClr val="171717"/>
                </a:solidFill>
                <a:effectLst/>
              </a:rPr>
              <a:t> the </a:t>
            </a:r>
            <a:r>
              <a:rPr kumimoji="0" lang="en-US" altLang="en-US" sz="1500" b="0" i="0" u="none" strike="noStrike" cap="none" normalizeH="0" baseline="0" dirty="0">
                <a:ln>
                  <a:noFill/>
                </a:ln>
                <a:solidFill>
                  <a:srgbClr val="171717"/>
                </a:solidFill>
                <a:effectLst/>
                <a:highlight>
                  <a:srgbClr val="8C5AA5"/>
                </a:highlight>
              </a:rPr>
              <a:t>SYN-ACK</a:t>
            </a:r>
            <a:r>
              <a:rPr kumimoji="0" lang="en-US" altLang="en-US" sz="1500" b="0" i="0" u="none" strike="noStrike" cap="none" normalizeH="0" baseline="0" dirty="0">
                <a:ln>
                  <a:noFill/>
                </a:ln>
                <a:solidFill>
                  <a:srgbClr val="171717"/>
                </a:solidFill>
                <a:effectLst/>
              </a:rPr>
              <a:t>) is set to one more than the received sequence number, or </a:t>
            </a:r>
            <a:r>
              <a:rPr kumimoji="0" lang="en-US" altLang="en-US" sz="1500" b="0" i="0" u="none" strike="noStrike" cap="none" normalizeH="0" baseline="0" dirty="0">
                <a:ln>
                  <a:noFill/>
                </a:ln>
                <a:solidFill>
                  <a:srgbClr val="171717"/>
                </a:solidFill>
                <a:effectLst/>
                <a:highlight>
                  <a:srgbClr val="8C5AA5"/>
                </a:highlight>
              </a:rPr>
              <a:t>y+1</a:t>
            </a:r>
            <a:r>
              <a:rPr kumimoji="0" lang="en-US" altLang="en-US" sz="1500" b="0" i="0" u="none" strike="noStrike" cap="none" normalizeH="0" baseline="0" dirty="0">
                <a:ln>
                  <a:noFill/>
                </a:ln>
                <a:solidFill>
                  <a:srgbClr val="171717"/>
                </a:solidFill>
                <a:effectLst/>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500" b="0" i="0" u="none" strike="noStrike" cap="none" normalizeH="0" baseline="0" dirty="0">
              <a:ln>
                <a:noFill/>
              </a:ln>
              <a:solidFill>
                <a:srgbClr val="171717"/>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a:ln>
                  <a:noFill/>
                </a:ln>
                <a:solidFill>
                  <a:srgbClr val="171717"/>
                </a:solidFill>
                <a:effectLst/>
              </a:rPr>
              <a:t>We now have a completed three-way handshake and an established connection where both the client and server have received acknowledgment of the connection from the other party. The connection has also established a random, sequential sequence</a:t>
            </a:r>
            <a:r>
              <a:rPr lang="en-US" altLang="en-US" sz="1500" u="sng" baseline="30000" dirty="0">
                <a:solidFill>
                  <a:srgbClr val="171717"/>
                </a:solidFill>
              </a:rPr>
              <a:t> </a:t>
            </a:r>
            <a:r>
              <a:rPr kumimoji="0" lang="en-US" altLang="en-US" sz="1500" b="0" i="0" u="none" strike="noStrike" cap="none" normalizeH="0" baseline="0" dirty="0">
                <a:ln>
                  <a:noFill/>
                </a:ln>
                <a:solidFill>
                  <a:srgbClr val="171717"/>
                </a:solidFill>
                <a:effectLst/>
              </a:rPr>
              <a:t>for each direction of communication (client-&gt;server, server-&gt;client), allowing for bidirectional, concurrent communication along the connection, which is also known as </a:t>
            </a:r>
            <a:r>
              <a:rPr kumimoji="0" lang="en-US" altLang="en-US" sz="1500" b="1" i="0" u="sng" strike="noStrike" cap="none" normalizeH="0" baseline="0" dirty="0">
                <a:ln>
                  <a:noFill/>
                </a:ln>
                <a:solidFill>
                  <a:srgbClr val="171717"/>
                </a:solidFill>
                <a:effectLst/>
              </a:rPr>
              <a:t>full duplex communication</a:t>
            </a:r>
            <a:r>
              <a:rPr kumimoji="0" lang="en-US" altLang="en-US" sz="1500" b="1" i="0" u="none" strike="noStrike" cap="none" normalizeH="0" baseline="0" dirty="0">
                <a:ln>
                  <a:noFill/>
                </a:ln>
                <a:solidFill>
                  <a:srgbClr val="171717"/>
                </a:solidFill>
                <a:effectLst/>
              </a:rPr>
              <a:t>.</a:t>
            </a:r>
            <a:endParaRPr kumimoji="0" lang="en-US" altLang="en-US" sz="1500" b="0" i="0" u="none" strike="noStrike" cap="none" normalizeH="0" baseline="0" dirty="0">
              <a:ln>
                <a:noFill/>
              </a:ln>
              <a:solidFill>
                <a:srgbClr val="171717"/>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F328087C-6442-40DF-B9C7-DADA2FCEF718}"/>
              </a:ext>
            </a:extLst>
          </p:cNvPr>
          <p:cNvSpPr txBox="1"/>
          <p:nvPr/>
        </p:nvSpPr>
        <p:spPr>
          <a:xfrm>
            <a:off x="463343" y="563542"/>
            <a:ext cx="7007703" cy="369332"/>
          </a:xfrm>
          <a:prstGeom prst="rect">
            <a:avLst/>
          </a:prstGeom>
          <a:noFill/>
        </p:spPr>
        <p:txBody>
          <a:bodyPr wrap="square" rtlCol="0">
            <a:spAutoFit/>
          </a:bodyPr>
          <a:lstStyle/>
          <a:p>
            <a:pPr algn="l"/>
            <a:r>
              <a:rPr lang="en-US" b="1" i="0" dirty="0">
                <a:solidFill>
                  <a:srgbClr val="171717"/>
                </a:solidFill>
                <a:effectLst/>
                <a:latin typeface="-apple-system"/>
              </a:rPr>
              <a:t>Establish a TCP Connection</a:t>
            </a:r>
          </a:p>
        </p:txBody>
      </p:sp>
    </p:spTree>
    <p:extLst>
      <p:ext uri="{BB962C8B-B14F-4D97-AF65-F5344CB8AC3E}">
        <p14:creationId xmlns:p14="http://schemas.microsoft.com/office/powerpoint/2010/main" val="3497670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FBBA-1369-4362-8CD2-7C65107B3923}"/>
              </a:ext>
            </a:extLst>
          </p:cNvPr>
          <p:cNvSpPr>
            <a:spLocks noGrp="1"/>
          </p:cNvSpPr>
          <p:nvPr>
            <p:ph type="title"/>
          </p:nvPr>
        </p:nvSpPr>
        <p:spPr>
          <a:xfrm>
            <a:off x="610397" y="546557"/>
            <a:ext cx="10645935" cy="507088"/>
          </a:xfrm>
        </p:spPr>
        <p:txBody>
          <a:bodyPr/>
          <a:lstStyle/>
          <a:p>
            <a:r>
              <a:rPr lang="en-US" b="1" i="0" dirty="0">
                <a:solidFill>
                  <a:srgbClr val="171717"/>
                </a:solidFill>
                <a:effectLst/>
                <a:latin typeface="-apple-system"/>
              </a:rPr>
              <a:t>Send an HTTP Request</a:t>
            </a:r>
            <a:endParaRPr lang="en-US" dirty="0"/>
          </a:p>
        </p:txBody>
      </p:sp>
      <p:sp>
        <p:nvSpPr>
          <p:cNvPr id="4" name="TextBox 3">
            <a:extLst>
              <a:ext uri="{FF2B5EF4-FFF2-40B4-BE49-F238E27FC236}">
                <a16:creationId xmlns:a16="http://schemas.microsoft.com/office/drawing/2014/main" id="{28431457-C8E8-4AEB-A55C-7C9CE2E33693}"/>
              </a:ext>
            </a:extLst>
          </p:cNvPr>
          <p:cNvSpPr txBox="1"/>
          <p:nvPr/>
        </p:nvSpPr>
        <p:spPr>
          <a:xfrm>
            <a:off x="610397" y="1076568"/>
            <a:ext cx="11058318" cy="5078313"/>
          </a:xfrm>
          <a:prstGeom prst="rect">
            <a:avLst/>
          </a:prstGeom>
          <a:noFill/>
        </p:spPr>
        <p:txBody>
          <a:bodyPr wrap="square">
            <a:spAutoFit/>
          </a:bodyPr>
          <a:lstStyle/>
          <a:p>
            <a:r>
              <a:rPr lang="en-US" b="0" i="0" dirty="0">
                <a:solidFill>
                  <a:srgbClr val="171717"/>
                </a:solidFill>
                <a:effectLst/>
                <a:latin typeface="-apple-system"/>
              </a:rPr>
              <a:t>The request is made up of a "request line", request header, and a body. The "request line" is simply a line that indicates the HTTP </a:t>
            </a:r>
            <a:r>
              <a:rPr lang="en-US" b="1" dirty="0">
                <a:latin typeface="-apple-system"/>
              </a:rPr>
              <a:t>method</a:t>
            </a:r>
            <a:r>
              <a:rPr lang="en-US" b="0" i="0" dirty="0">
                <a:solidFill>
                  <a:srgbClr val="171717"/>
                </a:solidFill>
                <a:effectLst/>
                <a:latin typeface="-apple-system"/>
              </a:rPr>
              <a:t>, the resource being requested, and the protocol </a:t>
            </a:r>
            <a:r>
              <a:rPr lang="en-US" b="0" i="0" dirty="0" err="1">
                <a:solidFill>
                  <a:srgbClr val="171717"/>
                </a:solidFill>
                <a:effectLst/>
                <a:latin typeface="-apple-system"/>
              </a:rPr>
              <a:t>version.The</a:t>
            </a:r>
            <a:r>
              <a:rPr lang="en-US" b="0" i="0" dirty="0">
                <a:solidFill>
                  <a:srgbClr val="171717"/>
                </a:solidFill>
                <a:effectLst/>
                <a:latin typeface="-apple-system"/>
              </a:rPr>
              <a:t> header of the request is made up of pairs in the form </a:t>
            </a:r>
            <a:r>
              <a:rPr lang="en-US" b="0" i="1" dirty="0" err="1">
                <a:solidFill>
                  <a:srgbClr val="171717"/>
                </a:solidFill>
                <a:effectLst/>
                <a:highlight>
                  <a:srgbClr val="8C5AA5"/>
                </a:highlight>
                <a:latin typeface="SF Mono"/>
              </a:rPr>
              <a:t>name:value</a:t>
            </a:r>
            <a:r>
              <a:rPr lang="en-US" b="0" i="1" dirty="0">
                <a:solidFill>
                  <a:srgbClr val="171717"/>
                </a:solidFill>
                <a:effectLst/>
                <a:highlight>
                  <a:srgbClr val="8C5AA5"/>
                </a:highlight>
                <a:latin typeface="SF Mono"/>
              </a:rPr>
              <a:t> &lt;CR&gt;&lt;LF&gt;</a:t>
            </a:r>
            <a:r>
              <a:rPr lang="en-US" b="0" i="1" dirty="0">
                <a:solidFill>
                  <a:srgbClr val="171717"/>
                </a:solidFill>
                <a:effectLst/>
                <a:latin typeface="SF Mono"/>
              </a:rPr>
              <a:t> .</a:t>
            </a:r>
          </a:p>
          <a:p>
            <a:endParaRPr lang="en-US" b="0" i="1" dirty="0">
              <a:solidFill>
                <a:srgbClr val="171717"/>
              </a:solidFill>
              <a:effectLst/>
              <a:latin typeface="SF Mono"/>
            </a:endParaRPr>
          </a:p>
          <a:p>
            <a:r>
              <a:rPr lang="en-US" b="0" i="0" dirty="0">
                <a:solidFill>
                  <a:srgbClr val="171717"/>
                </a:solidFill>
                <a:effectLst/>
                <a:latin typeface="-apple-system"/>
              </a:rPr>
              <a:t>Once the HTTP request is sent, it follows a similar routing procedure as the one discussed earlier, with the difference being that using TCPs magic sequence number powers, the server can ensure it receives the whole request, in the correct order.</a:t>
            </a:r>
          </a:p>
          <a:p>
            <a:endParaRPr lang="en-US" b="0" i="0" dirty="0">
              <a:solidFill>
                <a:srgbClr val="171717"/>
              </a:solidFill>
              <a:effectLst/>
              <a:latin typeface="-apple-system"/>
            </a:endParaRPr>
          </a:p>
          <a:p>
            <a:r>
              <a:rPr lang="en-US" b="0" i="0" dirty="0">
                <a:solidFill>
                  <a:srgbClr val="171717"/>
                </a:solidFill>
                <a:effectLst/>
                <a:latin typeface="-apple-system"/>
              </a:rPr>
              <a:t>Once the server receives the request, processes it, and finds the resource being requested, it generates an HTTP response. An HTTP response has a similar structure to an HTTP request, containing a "status line", response header fields, and an optional body. The status line contains an </a:t>
            </a:r>
            <a:r>
              <a:rPr lang="en-US" i="1" dirty="0">
                <a:solidFill>
                  <a:srgbClr val="171717"/>
                </a:solidFill>
                <a:latin typeface="-apple-system"/>
              </a:rPr>
              <a:t>HTTP status code</a:t>
            </a:r>
            <a:r>
              <a:rPr lang="en-US" dirty="0">
                <a:solidFill>
                  <a:srgbClr val="171717"/>
                </a:solidFill>
                <a:latin typeface="-apple-system"/>
              </a:rPr>
              <a:t> </a:t>
            </a:r>
            <a:r>
              <a:rPr lang="en-US" b="0" i="0" dirty="0">
                <a:solidFill>
                  <a:srgbClr val="171717"/>
                </a:solidFill>
                <a:effectLst/>
                <a:latin typeface="-apple-system"/>
              </a:rPr>
              <a:t>indicating the success, failure, or error-state of the request along with a "reason message" that provides detail.</a:t>
            </a:r>
          </a:p>
          <a:p>
            <a:endParaRPr lang="en-US" b="0" i="0" dirty="0">
              <a:solidFill>
                <a:srgbClr val="171717"/>
              </a:solidFill>
              <a:effectLst/>
              <a:latin typeface="-apple-system"/>
            </a:endParaRPr>
          </a:p>
          <a:p>
            <a:r>
              <a:rPr lang="en-US" b="0" i="0" dirty="0">
                <a:solidFill>
                  <a:srgbClr val="171717"/>
                </a:solidFill>
                <a:effectLst/>
                <a:latin typeface="-apple-system"/>
              </a:rPr>
              <a:t>Once the response is generated, the server responds to the request. At the TCP layer, the client receives the first data packet, the first byte of which should contain the HTTP response header. More packets start coming in, and at the TCP layer they are re-ordered as needed. For every two packets that the client receives at the TCP layer, it sends an </a:t>
            </a:r>
            <a:r>
              <a:rPr lang="en-US" b="0" i="0" dirty="0">
                <a:solidFill>
                  <a:srgbClr val="171717"/>
                </a:solidFill>
                <a:effectLst/>
                <a:highlight>
                  <a:srgbClr val="8C5AA5"/>
                </a:highlight>
                <a:latin typeface="SF Mono"/>
              </a:rPr>
              <a:t>ACK </a:t>
            </a:r>
            <a:r>
              <a:rPr lang="en-US" dirty="0">
                <a:solidFill>
                  <a:srgbClr val="171717"/>
                </a:solidFill>
                <a:latin typeface="SF Mono"/>
              </a:rPr>
              <a:t> </a:t>
            </a:r>
            <a:r>
              <a:rPr lang="en-US" b="0" i="0" dirty="0">
                <a:solidFill>
                  <a:srgbClr val="171717"/>
                </a:solidFill>
                <a:effectLst/>
                <a:latin typeface="-apple-system"/>
              </a:rPr>
              <a:t>message to the server. This goes on until the response is (hopefully) fully loaded.</a:t>
            </a:r>
            <a:endParaRPr lang="en-US" b="0" i="1" dirty="0">
              <a:solidFill>
                <a:srgbClr val="171717"/>
              </a:solidFill>
              <a:effectLst/>
              <a:latin typeface="-apple-system"/>
            </a:endParaRPr>
          </a:p>
          <a:p>
            <a:endParaRPr lang="en-US" dirty="0"/>
          </a:p>
        </p:txBody>
      </p:sp>
    </p:spTree>
    <p:extLst>
      <p:ext uri="{BB962C8B-B14F-4D97-AF65-F5344CB8AC3E}">
        <p14:creationId xmlns:p14="http://schemas.microsoft.com/office/powerpoint/2010/main" val="177929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1970-E864-4CB3-8D5A-B1ED97165226}"/>
              </a:ext>
            </a:extLst>
          </p:cNvPr>
          <p:cNvSpPr>
            <a:spLocks noGrp="1"/>
          </p:cNvSpPr>
          <p:nvPr>
            <p:ph type="title"/>
          </p:nvPr>
        </p:nvSpPr>
        <p:spPr>
          <a:xfrm>
            <a:off x="553753" y="595992"/>
            <a:ext cx="10645935" cy="507088"/>
          </a:xfrm>
        </p:spPr>
        <p:txBody>
          <a:bodyPr/>
          <a:lstStyle/>
          <a:p>
            <a:r>
              <a:rPr lang="en-US" b="1" i="0" dirty="0">
                <a:solidFill>
                  <a:srgbClr val="171717"/>
                </a:solidFill>
                <a:effectLst/>
                <a:latin typeface="-apple-system"/>
              </a:rPr>
              <a:t>Tearing Down and Cleaning Up</a:t>
            </a:r>
            <a:endParaRPr lang="en-US" dirty="0"/>
          </a:p>
        </p:txBody>
      </p:sp>
      <p:sp>
        <p:nvSpPr>
          <p:cNvPr id="3" name="Rectangle 1">
            <a:extLst>
              <a:ext uri="{FF2B5EF4-FFF2-40B4-BE49-F238E27FC236}">
                <a16:creationId xmlns:a16="http://schemas.microsoft.com/office/drawing/2014/main" id="{282803F6-5EFB-48B0-9291-2EC475408000}"/>
              </a:ext>
            </a:extLst>
          </p:cNvPr>
          <p:cNvSpPr>
            <a:spLocks noChangeArrowheads="1"/>
          </p:cNvSpPr>
          <p:nvPr/>
        </p:nvSpPr>
        <p:spPr bwMode="auto">
          <a:xfrm>
            <a:off x="432262" y="1500487"/>
            <a:ext cx="10500078" cy="35394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171717"/>
                </a:solidFill>
                <a:effectLst/>
              </a:rPr>
              <a:t>Once the response has been fully delivered, the client sends a </a:t>
            </a:r>
            <a:r>
              <a:rPr kumimoji="0" lang="en-US" altLang="en-US" sz="1600" b="0" i="0" u="none" strike="noStrike" cap="none" normalizeH="0" baseline="0" dirty="0">
                <a:ln>
                  <a:noFill/>
                </a:ln>
                <a:solidFill>
                  <a:srgbClr val="171717"/>
                </a:solidFill>
                <a:effectLst/>
                <a:highlight>
                  <a:srgbClr val="8C5AA5"/>
                </a:highlight>
              </a:rPr>
              <a:t>FIN</a:t>
            </a:r>
            <a:r>
              <a:rPr kumimoji="0" lang="en-US" altLang="en-US" sz="1600" b="0" i="0" u="none" strike="noStrike" cap="none" normalizeH="0" baseline="0" dirty="0">
                <a:ln>
                  <a:noFill/>
                </a:ln>
                <a:solidFill>
                  <a:srgbClr val="171717"/>
                </a:solidFill>
                <a:effectLst/>
              </a:rPr>
              <a:t> packet at the TCP level, to which the server responds with an </a:t>
            </a:r>
            <a:r>
              <a:rPr kumimoji="0" lang="en-US" altLang="en-US" sz="1600" b="0" i="0" u="none" strike="noStrike" cap="none" normalizeH="0" baseline="0" dirty="0">
                <a:ln>
                  <a:noFill/>
                </a:ln>
                <a:solidFill>
                  <a:srgbClr val="171717"/>
                </a:solidFill>
                <a:effectLst/>
                <a:highlight>
                  <a:srgbClr val="8C5AA5"/>
                </a:highlight>
              </a:rPr>
              <a:t>ACK</a:t>
            </a:r>
            <a:r>
              <a:rPr kumimoji="0" lang="en-US" altLang="en-US" sz="1600" b="0" i="0" u="none" strike="noStrike" cap="none" normalizeH="0" baseline="0" dirty="0">
                <a:ln>
                  <a:noFill/>
                </a:ln>
                <a:solidFill>
                  <a:srgbClr val="171717"/>
                </a:solidFill>
                <a:effectLst/>
              </a:rPr>
              <a:t>, and then generally sends a </a:t>
            </a:r>
            <a:r>
              <a:rPr kumimoji="0" lang="en-US" altLang="en-US" sz="1600" b="0" i="0" u="none" strike="noStrike" cap="none" normalizeH="0" baseline="0" dirty="0">
                <a:ln>
                  <a:noFill/>
                </a:ln>
                <a:solidFill>
                  <a:srgbClr val="171717"/>
                </a:solidFill>
                <a:effectLst/>
                <a:highlight>
                  <a:srgbClr val="8C5AA5"/>
                </a:highlight>
              </a:rPr>
              <a:t>FIN</a:t>
            </a:r>
            <a:r>
              <a:rPr kumimoji="0" lang="en-US" altLang="en-US" sz="1600" b="0" i="0" u="none" strike="noStrike" cap="none" normalizeH="0" baseline="0" dirty="0">
                <a:ln>
                  <a:noFill/>
                </a:ln>
                <a:solidFill>
                  <a:srgbClr val="171717"/>
                </a:solidFill>
                <a:effectLst/>
              </a:rPr>
              <a:t> of its own, which the client responds to with its own </a:t>
            </a:r>
            <a:r>
              <a:rPr kumimoji="0" lang="en-US" altLang="en-US" sz="1600" b="0" i="0" u="none" strike="noStrike" cap="none" normalizeH="0" baseline="0" dirty="0">
                <a:ln>
                  <a:noFill/>
                </a:ln>
                <a:solidFill>
                  <a:srgbClr val="171717"/>
                </a:solidFill>
                <a:effectLst/>
                <a:highlight>
                  <a:srgbClr val="8C5AA5"/>
                </a:highlight>
              </a:rPr>
              <a:t>ACK</a:t>
            </a:r>
            <a:r>
              <a:rPr kumimoji="0" lang="en-US" altLang="en-US" sz="1600" b="0" i="0" u="none" strike="noStrike" cap="none" normalizeH="0" baseline="0" dirty="0">
                <a:ln>
                  <a:noFill/>
                </a:ln>
                <a:solidFill>
                  <a:srgbClr val="171717"/>
                </a:solidFill>
                <a:effectLst/>
              </a:rPr>
              <a:t> signal. The client then waits for a brief timeout, during which it cannot accept new connections, to prevent delayed packets from previous connections arriving during subsequent activities on the port. This </a:t>
            </a:r>
            <a:r>
              <a:rPr kumimoji="0" lang="en-US" altLang="en-US" sz="1600" b="0" i="1" u="none" strike="noStrike" cap="none" normalizeH="0" baseline="0" dirty="0">
                <a:ln>
                  <a:noFill/>
                </a:ln>
                <a:solidFill>
                  <a:srgbClr val="171717"/>
                </a:solidFill>
                <a:effectLst/>
              </a:rPr>
              <a:t>four way handshake</a:t>
            </a:r>
            <a:r>
              <a:rPr kumimoji="0" lang="en-US" altLang="en-US" sz="1600" b="0" i="0" u="none" strike="noStrike" cap="none" normalizeH="0" baseline="0" dirty="0">
                <a:ln>
                  <a:noFill/>
                </a:ln>
                <a:solidFill>
                  <a:srgbClr val="171717"/>
                </a:solidFill>
                <a:effectLst/>
              </a:rPr>
              <a:t> signals the end of the TCP connection.</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600" b="0" i="0" u="none" strike="noStrike" cap="none" normalizeH="0" baseline="0" dirty="0">
              <a:ln>
                <a:noFill/>
              </a:ln>
              <a:solidFill>
                <a:srgbClr val="171717"/>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171717"/>
                </a:solidFill>
                <a:effectLst/>
              </a:rPr>
              <a:t>At this point, your browser begins processing what it has received. If it is an image, data, or other media file that is being consumed by some application inside the browser, a variety of things can happen. If the data received is HTML, the browser will start parsing the HTML, and rendering the page you requested. As it parses, the browser may come across links to images or other media that are external to the HTML it has received, and will spin up new requests for that content, restarting this whole process (although usually skipping steps 1 &amp; 2 thanks to caching). But, given that we were only interested in the lifecycle of an individual request: our (application’s) work is done, congratulations!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81370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6A20-39A5-4343-89E6-F86CA0ECB9ED}"/>
              </a:ext>
            </a:extLst>
          </p:cNvPr>
          <p:cNvSpPr>
            <a:spLocks noGrp="1"/>
          </p:cNvSpPr>
          <p:nvPr>
            <p:ph type="title"/>
          </p:nvPr>
        </p:nvSpPr>
        <p:spPr/>
        <p:txBody>
          <a:bodyPr/>
          <a:lstStyle/>
          <a:p>
            <a:r>
              <a:rPr lang="en-US" dirty="0"/>
              <a:t>Quick Overview</a:t>
            </a:r>
          </a:p>
        </p:txBody>
      </p:sp>
      <p:sp>
        <p:nvSpPr>
          <p:cNvPr id="4" name="TextBox 3">
            <a:extLst>
              <a:ext uri="{FF2B5EF4-FFF2-40B4-BE49-F238E27FC236}">
                <a16:creationId xmlns:a16="http://schemas.microsoft.com/office/drawing/2014/main" id="{E9571C9A-6A39-4762-AC4E-98431C8DA62E}"/>
              </a:ext>
            </a:extLst>
          </p:cNvPr>
          <p:cNvSpPr txBox="1"/>
          <p:nvPr/>
        </p:nvSpPr>
        <p:spPr>
          <a:xfrm>
            <a:off x="610397" y="1136064"/>
            <a:ext cx="10896477" cy="4585871"/>
          </a:xfrm>
          <a:prstGeom prst="rect">
            <a:avLst/>
          </a:prstGeom>
          <a:noFill/>
        </p:spPr>
        <p:txBody>
          <a:bodyPr wrap="square">
            <a:spAutoFit/>
          </a:bodyPr>
          <a:lstStyle/>
          <a:p>
            <a:pPr algn="l" fontAlgn="base"/>
            <a:r>
              <a:rPr lang="en-US" sz="1600" b="1" i="0" dirty="0">
                <a:solidFill>
                  <a:srgbClr val="273239"/>
                </a:solidFill>
                <a:effectLst/>
                <a:latin typeface="urw-din"/>
              </a:rPr>
              <a:t>Steps for what happens when we enter a URL :</a:t>
            </a:r>
            <a:endParaRPr lang="en-US" sz="1600" b="0" i="0" dirty="0">
              <a:solidFill>
                <a:srgbClr val="273239"/>
              </a:solidFill>
              <a:effectLst/>
              <a:latin typeface="urw-din"/>
            </a:endParaRPr>
          </a:p>
          <a:p>
            <a:pPr algn="l" fontAlgn="base">
              <a:buFont typeface="+mj-lt"/>
              <a:buAutoNum type="arabicPeriod"/>
            </a:pPr>
            <a:r>
              <a:rPr lang="en-US" sz="1600" b="0" i="0" dirty="0">
                <a:solidFill>
                  <a:srgbClr val="273239"/>
                </a:solidFill>
                <a:effectLst/>
                <a:latin typeface="urw-din"/>
              </a:rPr>
              <a:t>Browser checks cache for DNS entry to find the corresponding </a:t>
            </a:r>
            <a:r>
              <a:rPr lang="en-US" sz="1600" dirty="0">
                <a:solidFill>
                  <a:srgbClr val="273239"/>
                </a:solidFill>
                <a:latin typeface="urw-din"/>
              </a:rPr>
              <a:t>IP address </a:t>
            </a:r>
            <a:r>
              <a:rPr lang="en-US" sz="1600" b="0" i="0" dirty="0">
                <a:solidFill>
                  <a:srgbClr val="273239"/>
                </a:solidFill>
                <a:effectLst/>
                <a:latin typeface="urw-din"/>
              </a:rPr>
              <a:t>of website.</a:t>
            </a:r>
            <a:br>
              <a:rPr lang="en-US" sz="1600" b="0" i="0" dirty="0">
                <a:solidFill>
                  <a:srgbClr val="273239"/>
                </a:solidFill>
                <a:effectLst/>
                <a:latin typeface="urw-din"/>
              </a:rPr>
            </a:br>
            <a:r>
              <a:rPr lang="en-US" sz="1600" b="0" i="0" dirty="0">
                <a:solidFill>
                  <a:srgbClr val="273239"/>
                </a:solidFill>
                <a:effectLst/>
                <a:latin typeface="urw-din"/>
              </a:rPr>
              <a:t>It looks for following cache. If not found in one, then continues checking to the next until found.</a:t>
            </a:r>
          </a:p>
          <a:p>
            <a:pPr marL="742950" lvl="1" indent="-285750" algn="l" fontAlgn="base">
              <a:buFont typeface="+mj-lt"/>
              <a:buAutoNum type="arabicPeriod"/>
            </a:pPr>
            <a:r>
              <a:rPr lang="en-US" sz="1600" b="0" i="0" dirty="0">
                <a:solidFill>
                  <a:srgbClr val="273239"/>
                </a:solidFill>
                <a:effectLst/>
                <a:latin typeface="urw-din"/>
              </a:rPr>
              <a:t>Browser Cache</a:t>
            </a:r>
          </a:p>
          <a:p>
            <a:pPr marL="742950" lvl="1" indent="-285750" algn="l" fontAlgn="base">
              <a:buFont typeface="+mj-lt"/>
              <a:buAutoNum type="arabicPeriod"/>
            </a:pPr>
            <a:r>
              <a:rPr lang="en-US" sz="1600" b="0" i="0" dirty="0">
                <a:solidFill>
                  <a:srgbClr val="273239"/>
                </a:solidFill>
                <a:effectLst/>
                <a:latin typeface="urw-din"/>
              </a:rPr>
              <a:t>Operating Systems Cache</a:t>
            </a:r>
          </a:p>
          <a:p>
            <a:pPr marL="742950" lvl="1" indent="-285750" algn="l" fontAlgn="base">
              <a:buFont typeface="+mj-lt"/>
              <a:buAutoNum type="arabicPeriod"/>
            </a:pPr>
            <a:r>
              <a:rPr lang="en-US" sz="1600" b="0" i="0" dirty="0">
                <a:solidFill>
                  <a:srgbClr val="273239"/>
                </a:solidFill>
                <a:effectLst/>
                <a:latin typeface="urw-din"/>
              </a:rPr>
              <a:t>Router Cache</a:t>
            </a:r>
          </a:p>
          <a:p>
            <a:pPr marL="742950" lvl="1" indent="-285750" algn="l" fontAlgn="base">
              <a:buFont typeface="+mj-lt"/>
              <a:buAutoNum type="arabicPeriod"/>
            </a:pPr>
            <a:r>
              <a:rPr lang="en-US" sz="1600" b="0" i="0" dirty="0">
                <a:solidFill>
                  <a:srgbClr val="273239"/>
                </a:solidFill>
                <a:effectLst/>
                <a:latin typeface="urw-din"/>
              </a:rPr>
              <a:t>ISP Cache</a:t>
            </a:r>
          </a:p>
          <a:p>
            <a:pPr algn="l" fontAlgn="base">
              <a:buFont typeface="+mj-lt"/>
              <a:buAutoNum type="arabicPeriod"/>
            </a:pPr>
            <a:r>
              <a:rPr lang="en-US" sz="1600" b="0" i="0" dirty="0">
                <a:solidFill>
                  <a:srgbClr val="273239"/>
                </a:solidFill>
                <a:effectLst/>
                <a:latin typeface="urw-din"/>
              </a:rPr>
              <a:t>If not found in cache, ISP’s (Internet Service Provider) DNS server initiates a DNS query to find IP address of server that hosts the domain name.</a:t>
            </a:r>
            <a:br>
              <a:rPr lang="en-US" sz="1600" b="0" i="0" dirty="0">
                <a:solidFill>
                  <a:srgbClr val="273239"/>
                </a:solidFill>
                <a:effectLst/>
                <a:latin typeface="urw-din"/>
              </a:rPr>
            </a:br>
            <a:r>
              <a:rPr lang="en-US" sz="1600" b="0" i="0" dirty="0">
                <a:solidFill>
                  <a:srgbClr val="273239"/>
                </a:solidFill>
                <a:effectLst/>
                <a:latin typeface="urw-din"/>
              </a:rPr>
              <a:t>The requests are sent using small data packets that contain information content of request and IP address it is destined for.</a:t>
            </a:r>
          </a:p>
          <a:p>
            <a:pPr algn="l" fontAlgn="base">
              <a:buFont typeface="+mj-lt"/>
              <a:buAutoNum type="arabicPeriod"/>
            </a:pPr>
            <a:r>
              <a:rPr lang="en-US" sz="1600" b="0" i="0" dirty="0">
                <a:solidFill>
                  <a:srgbClr val="273239"/>
                </a:solidFill>
                <a:effectLst/>
                <a:latin typeface="urw-din"/>
              </a:rPr>
              <a:t>Browser initiates a </a:t>
            </a:r>
            <a:r>
              <a:rPr lang="en-US" sz="1600" dirty="0">
                <a:solidFill>
                  <a:srgbClr val="273239"/>
                </a:solidFill>
                <a:latin typeface="urw-din"/>
              </a:rPr>
              <a:t>TCP (Transfer Control Protocol) </a:t>
            </a:r>
            <a:r>
              <a:rPr lang="en-US" sz="1600" b="0" i="0" dirty="0">
                <a:solidFill>
                  <a:srgbClr val="273239"/>
                </a:solidFill>
                <a:effectLst/>
                <a:latin typeface="urw-din"/>
              </a:rPr>
              <a:t>connection with the server using synchronize(SYN) and acknowledge(ACK) messages.</a:t>
            </a:r>
          </a:p>
          <a:p>
            <a:pPr algn="l" fontAlgn="base">
              <a:buFont typeface="+mj-lt"/>
              <a:buAutoNum type="arabicPeriod"/>
            </a:pPr>
            <a:r>
              <a:rPr lang="en-US" sz="1600" b="0" i="0" dirty="0">
                <a:solidFill>
                  <a:srgbClr val="273239"/>
                </a:solidFill>
                <a:effectLst/>
                <a:latin typeface="urw-din"/>
              </a:rPr>
              <a:t>Browser sends an </a:t>
            </a:r>
            <a:r>
              <a:rPr lang="en-US" sz="1600" dirty="0">
                <a:solidFill>
                  <a:srgbClr val="273239"/>
                </a:solidFill>
                <a:latin typeface="urw-din"/>
              </a:rPr>
              <a:t>HTTP </a:t>
            </a:r>
            <a:r>
              <a:rPr lang="en-US" sz="1600" b="0" i="0" dirty="0">
                <a:solidFill>
                  <a:srgbClr val="273239"/>
                </a:solidFill>
                <a:effectLst/>
                <a:latin typeface="urw-din"/>
              </a:rPr>
              <a:t>request to the web server. GET or POST request.</a:t>
            </a:r>
          </a:p>
          <a:p>
            <a:pPr algn="l" fontAlgn="base">
              <a:buFont typeface="+mj-lt"/>
              <a:buAutoNum type="arabicPeriod"/>
            </a:pPr>
            <a:r>
              <a:rPr lang="en-US" sz="1600" b="0" i="0" dirty="0">
                <a:solidFill>
                  <a:srgbClr val="273239"/>
                </a:solidFill>
                <a:effectLst/>
                <a:latin typeface="urw-din"/>
              </a:rPr>
              <a:t>Server on the host computer handles that request and sends back a response. It assembles a response in some format like JSON, </a:t>
            </a:r>
            <a:r>
              <a:rPr lang="en-US" sz="1600" dirty="0">
                <a:solidFill>
                  <a:srgbClr val="273239"/>
                </a:solidFill>
                <a:latin typeface="urw-din"/>
              </a:rPr>
              <a:t>XML</a:t>
            </a:r>
            <a:r>
              <a:rPr lang="en-US" sz="1600" b="0" i="0" dirty="0">
                <a:solidFill>
                  <a:srgbClr val="273239"/>
                </a:solidFill>
                <a:effectLst/>
                <a:latin typeface="urw-din"/>
              </a:rPr>
              <a:t> and HTML.</a:t>
            </a:r>
          </a:p>
          <a:p>
            <a:pPr algn="l" fontAlgn="base">
              <a:buFont typeface="+mj-lt"/>
              <a:buAutoNum type="arabicPeriod"/>
            </a:pPr>
            <a:r>
              <a:rPr lang="en-US" sz="1600" b="0" i="0" dirty="0">
                <a:solidFill>
                  <a:srgbClr val="273239"/>
                </a:solidFill>
                <a:effectLst/>
                <a:latin typeface="urw-din"/>
              </a:rPr>
              <a:t>Server sends out an HTTP response along with the status of response.</a:t>
            </a:r>
          </a:p>
          <a:p>
            <a:pPr algn="l" fontAlgn="base">
              <a:buFont typeface="+mj-lt"/>
              <a:buAutoNum type="arabicPeriod"/>
            </a:pPr>
            <a:r>
              <a:rPr lang="en-US" sz="1600" b="0" i="0" dirty="0">
                <a:solidFill>
                  <a:srgbClr val="273239"/>
                </a:solidFill>
                <a:effectLst/>
                <a:latin typeface="urw-din"/>
              </a:rPr>
              <a:t>Browser displays </a:t>
            </a:r>
            <a:r>
              <a:rPr lang="en-US" sz="1600" dirty="0">
                <a:solidFill>
                  <a:srgbClr val="273239"/>
                </a:solidFill>
                <a:latin typeface="urw-din"/>
              </a:rPr>
              <a:t>HTML</a:t>
            </a:r>
            <a:r>
              <a:rPr lang="en-US" sz="1600" b="0" i="0" dirty="0">
                <a:solidFill>
                  <a:srgbClr val="273239"/>
                </a:solidFill>
                <a:effectLst/>
                <a:latin typeface="urw-din"/>
              </a:rPr>
              <a:t> content</a:t>
            </a:r>
          </a:p>
          <a:p>
            <a:pPr algn="l" fontAlgn="base">
              <a:buFont typeface="+mj-lt"/>
              <a:buAutoNum type="arabicPeriod"/>
            </a:pPr>
            <a:r>
              <a:rPr lang="en-US" sz="1600" b="0" i="0" dirty="0">
                <a:solidFill>
                  <a:srgbClr val="273239"/>
                </a:solidFill>
                <a:effectLst/>
                <a:latin typeface="urw-din"/>
              </a:rPr>
              <a:t>Finally, Done</a:t>
            </a:r>
            <a:r>
              <a:rPr lang="en-US" b="0" i="0" dirty="0">
                <a:solidFill>
                  <a:srgbClr val="273239"/>
                </a:solidFill>
                <a:effectLst/>
                <a:latin typeface="urw-din"/>
              </a:rPr>
              <a:t>.</a:t>
            </a:r>
          </a:p>
        </p:txBody>
      </p:sp>
    </p:spTree>
    <p:extLst>
      <p:ext uri="{BB962C8B-B14F-4D97-AF65-F5344CB8AC3E}">
        <p14:creationId xmlns:p14="http://schemas.microsoft.com/office/powerpoint/2010/main" val="42636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275D7-9B15-374F-B814-D4367F3D268D}"/>
              </a:ext>
            </a:extLst>
          </p:cNvPr>
          <p:cNvSpPr>
            <a:spLocks noGrp="1"/>
          </p:cNvSpPr>
          <p:nvPr>
            <p:ph type="title"/>
          </p:nvPr>
        </p:nvSpPr>
        <p:spPr/>
        <p:txBody>
          <a:bodyPr/>
          <a:lstStyle/>
          <a:p>
            <a:r>
              <a:rPr lang="en-US" dirty="0"/>
              <a:t>Q &amp; A</a:t>
            </a:r>
          </a:p>
        </p:txBody>
      </p:sp>
      <p:sp>
        <p:nvSpPr>
          <p:cNvPr id="4" name="TextBox 3">
            <a:extLst>
              <a:ext uri="{FF2B5EF4-FFF2-40B4-BE49-F238E27FC236}">
                <a16:creationId xmlns:a16="http://schemas.microsoft.com/office/drawing/2014/main" id="{6A8D5C27-D5E7-41AD-8777-5F85D0B642C9}"/>
              </a:ext>
            </a:extLst>
          </p:cNvPr>
          <p:cNvSpPr txBox="1"/>
          <p:nvPr/>
        </p:nvSpPr>
        <p:spPr>
          <a:xfrm>
            <a:off x="3131618" y="1354079"/>
            <a:ext cx="4968509" cy="3724096"/>
          </a:xfrm>
          <a:prstGeom prst="rect">
            <a:avLst/>
          </a:prstGeom>
          <a:noFill/>
        </p:spPr>
        <p:txBody>
          <a:bodyPr wrap="square" rtlCol="0">
            <a:spAutoFit/>
          </a:bodyPr>
          <a:lstStyle/>
          <a:p>
            <a:pPr algn="ctr"/>
            <a:r>
              <a:rPr lang="en-US" sz="3200" dirty="0"/>
              <a:t>“He or She who asks a</a:t>
            </a:r>
          </a:p>
          <a:p>
            <a:pPr algn="ctr"/>
            <a:r>
              <a:rPr lang="en-US" sz="3200" dirty="0"/>
              <a:t>question remains a</a:t>
            </a:r>
          </a:p>
          <a:p>
            <a:pPr algn="ctr"/>
            <a:r>
              <a:rPr lang="en-US" sz="3600" b="1" dirty="0">
                <a:solidFill>
                  <a:srgbClr val="8C5AA5"/>
                </a:solidFill>
              </a:rPr>
              <a:t>FOOL FOR</a:t>
            </a:r>
          </a:p>
          <a:p>
            <a:pPr algn="ctr"/>
            <a:r>
              <a:rPr lang="en-US" sz="3600" b="1" dirty="0">
                <a:solidFill>
                  <a:srgbClr val="8C5AA5"/>
                </a:solidFill>
              </a:rPr>
              <a:t>FIVE MINUTES</a:t>
            </a:r>
            <a:r>
              <a:rPr lang="en-US" sz="3600" dirty="0">
                <a:solidFill>
                  <a:srgbClr val="8C5AA5"/>
                </a:solidFill>
              </a:rPr>
              <a:t>.</a:t>
            </a:r>
          </a:p>
          <a:p>
            <a:pPr algn="ctr"/>
            <a:r>
              <a:rPr lang="en-US" sz="3200" dirty="0"/>
              <a:t>He or She who does not</a:t>
            </a:r>
          </a:p>
          <a:p>
            <a:pPr algn="ctr"/>
            <a:r>
              <a:rPr lang="en-US" sz="3200" dirty="0"/>
              <a:t>ask a question remains a </a:t>
            </a:r>
          </a:p>
          <a:p>
            <a:pPr algn="ctr"/>
            <a:r>
              <a:rPr lang="en-US" sz="3600" b="1" dirty="0">
                <a:solidFill>
                  <a:srgbClr val="FF0000"/>
                </a:solidFill>
              </a:rPr>
              <a:t>FOOL FOREVER.</a:t>
            </a:r>
            <a:r>
              <a:rPr lang="en-US" sz="3200" dirty="0"/>
              <a:t>”</a:t>
            </a:r>
          </a:p>
        </p:txBody>
      </p:sp>
    </p:spTree>
    <p:extLst>
      <p:ext uri="{BB962C8B-B14F-4D97-AF65-F5344CB8AC3E}">
        <p14:creationId xmlns:p14="http://schemas.microsoft.com/office/powerpoint/2010/main" val="1065808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712B2AA2-A2F4-4DEB-93A5-1D53C74A92AB}"/>
              </a:ext>
            </a:extLst>
          </p:cNvPr>
          <p:cNvPicPr>
            <a:picLocks noGrp="1" noChangeAspect="1"/>
          </p:cNvPicPr>
          <p:nvPr>
            <p:ph type="pic" sz="quarter" idx="14"/>
          </p:nvPr>
        </p:nvPicPr>
        <p:blipFill>
          <a:blip r:embed="rId2"/>
          <a:srcRect l="11022" r="11022"/>
          <a:stretch>
            <a:fillRect/>
          </a:stretch>
        </p:blipFill>
        <p:spPr>
          <a:xfrm>
            <a:off x="7088188" y="0"/>
            <a:ext cx="5103812" cy="6858000"/>
          </a:xfrm>
          <a:prstGeom prst="rect">
            <a:avLst/>
          </a:prstGeom>
        </p:spPr>
      </p:pic>
    </p:spTree>
    <p:extLst>
      <p:ext uri="{BB962C8B-B14F-4D97-AF65-F5344CB8AC3E}">
        <p14:creationId xmlns:p14="http://schemas.microsoft.com/office/powerpoint/2010/main" val="972584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2265</Words>
  <Application>Microsoft Office PowerPoint</Application>
  <PresentationFormat>Widescreen</PresentationFormat>
  <Paragraphs>98</Paragraphs>
  <Slides>15</Slides>
  <Notes>5</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-apple-system</vt:lpstr>
      <vt:lpstr>Arial</vt:lpstr>
      <vt:lpstr>Calibri</vt:lpstr>
      <vt:lpstr>Calibri Light</vt:lpstr>
      <vt:lpstr>inherit</vt:lpstr>
      <vt:lpstr>Open Sans</vt:lpstr>
      <vt:lpstr>SF Mono</vt:lpstr>
      <vt:lpstr>urw-din</vt:lpstr>
      <vt:lpstr>Office Theme</vt:lpstr>
      <vt:lpstr>LIFE CYCLE OF WEB REQUESTS</vt:lpstr>
      <vt:lpstr>What is a Web Request ?</vt:lpstr>
      <vt:lpstr>How Does a Web Request Work?</vt:lpstr>
      <vt:lpstr>What is a URL?  A URL (Uniform Resource Locator) is a unique identifier used to locate a resource on the Internet. It is also referred to as a web address. URLs consist of multiple parts -- including a protocol and domain name -- that tell a web browser how and where to retrieve a resource. </vt:lpstr>
      <vt:lpstr>PowerPoint Presentation</vt:lpstr>
      <vt:lpstr>Life Cycle Of Web Requests</vt:lpstr>
      <vt:lpstr>Local Processing</vt:lpstr>
      <vt:lpstr>PowerPoint Presentation</vt:lpstr>
      <vt:lpstr>PowerPoint Presentation</vt:lpstr>
      <vt:lpstr>PowerPoint Presentation</vt:lpstr>
      <vt:lpstr>Send an HTTP Request</vt:lpstr>
      <vt:lpstr>Tearing Down and Cleaning Up</vt:lpstr>
      <vt:lpstr>Quick Overview</vt:lpstr>
      <vt:lpstr>Q &amp; 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Synergy</dc:title>
  <dc:creator>Hemalatha Manu Anand</dc:creator>
  <cp:lastModifiedBy> </cp:lastModifiedBy>
  <cp:revision>5</cp:revision>
  <dcterms:created xsi:type="dcterms:W3CDTF">2020-06-30T04:13:35Z</dcterms:created>
  <dcterms:modified xsi:type="dcterms:W3CDTF">2022-04-02T02:11:33Z</dcterms:modified>
</cp:coreProperties>
</file>