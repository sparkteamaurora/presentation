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2" r:id="rId2"/>
  </p:sldMasterIdLst>
  <p:notesMasterIdLst>
    <p:notesMasterId r:id="rId9"/>
  </p:notesMasterIdLst>
  <p:sldIdLst>
    <p:sldId id="288" r:id="rId3"/>
    <p:sldId id="260" r:id="rId4"/>
    <p:sldId id="290" r:id="rId5"/>
    <p:sldId id="292" r:id="rId6"/>
    <p:sldId id="291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81F47-3D07-42AF-A388-97F6DFC1AF07}" v="241" dt="2022-03-28T06:01:15.341"/>
    <p1510:client id="{5DEB7FCE-B201-44C6-B7A6-650C63A86B6B}" v="336" dt="2022-04-02T04:17:16.229"/>
    <p1510:client id="{9ED8C112-F2D3-46D7-A46D-B078FCB83FF7}" v="41" dt="2022-03-28T08:10:37.624"/>
    <p1510:client id="{D707D695-9377-4DE0-8E8B-A36B2D36ED33}" v="59" dt="2022-03-28T04:34:33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8C692-5CE6-0540-AC01-6407800CC529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A6E64-EA6B-144B-94DB-0E60C4F35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1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E19CD-2A84-A345-96E6-222E4F41D16D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6139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E19CD-2A84-A345-96E6-222E4F41D16D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9461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E19CD-2A84-A345-96E6-222E4F41D16D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7090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E19CD-2A84-A345-96E6-222E4F41D16D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0784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FE51-C0F1-1D42-B73F-01C09E056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BDE6-8AFD-BA43-8892-C61848E76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AA151-AEFE-4049-A258-77C6BC0A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802E-607A-4749-A61F-4C33EC60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85DE-C0B9-FE43-91C7-2864AD32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E1AD-CBAA-4848-8B6D-F630CB5C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C08F-67AF-964D-AAF9-97DF2FA0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1789-0EB2-9D4F-883E-9D2E70E6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52A64-4B0B-984B-B33B-94AD74A3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E82B-61DE-AB40-A6AE-48171FB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7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6729-6AD2-2D43-BF32-7E8CE687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65BF7-5C67-2F40-9A4A-82348A2FC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CD2F-98E6-7C43-8636-C16BAC28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9252E-FEB9-BC4F-8922-019C05DC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F5BB1-3726-6641-9F3F-FD61952E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9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C75-D54A-F34F-90AA-C8F7E223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77E4-0C1E-284E-8350-6B5721F5D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A4C5F-ED64-C14B-8E79-E98E9AB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D405B-3ED1-644B-881A-A904ED58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7CB19-2CC8-3E43-8735-849064AB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952C-A5E9-8A46-9602-9EAEE2E6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9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97CC-597B-7A45-8479-B6A8D9ED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FE9AD-4AF3-CA49-8CEE-E5ECFAA9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0ACDE-ACC3-484B-8188-3344B3AA2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88EBF-F9C4-5345-891A-B8D0E9BA0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8E19B-E311-AD43-96E0-F990D73E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7C03E-B4DC-B84B-8F32-81AD6FEF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8CCF3-6249-6B4C-9F2C-B8220B10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7DBEF-6C3E-4F49-9AA9-25F4D0ED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6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0A4-22BE-CE4B-951C-84E43A2E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EFA9F-094E-844B-B146-8018F693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FBAB-9B6B-0949-9413-A1D5C8A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01D0C-DEDF-3241-8D56-0ED8CDA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D4AEA-FB49-7B43-A8D7-6DCF73EF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AC87A-8233-904A-A4C3-21F62EFC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4D83F-9E9B-E043-9925-EBB71DF7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7D2E-15DA-B947-92C8-70EEEE0F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C49B2-A0AE-7645-9237-C8AF57CFA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40312-3DC8-8D47-954C-B69B786A1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554B-7E8D-A54F-88D7-3B30BEB0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C95B-2886-EB4E-97CA-32B86F5C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A6FED-D869-C24C-8B4D-4456F05A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3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0C29-15B3-424F-A769-6E769220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0A53-30F9-4F42-B64F-B1966DFA3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56C46-EF1B-1044-B8AE-83D3BD05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06D8C-0F07-DF4C-9B42-7064FE34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546B-1409-A546-9DFF-21B5927D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77FE8-33EA-534A-877C-6CE61FA8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0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5113-E3D8-E842-959C-CF47E210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52F2F-3041-7745-BDA1-2799FA03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B9BE6-ADE0-C14E-BFC4-211E7F3F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CB5B5-61B2-6641-A7FE-0503903E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AA36F-D4C5-D94B-8C7C-512C1797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92F32-EECC-6448-910E-1CB6BB32F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5B58-155A-A745-86A5-20ECD92BE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7ABDB-F7F7-874C-85C4-6D6BEDB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21BF4-A480-E54F-9C7F-1BF4FACD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0CDB-457D-2048-AE68-D461B472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1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10">
            <a:extLst>
              <a:ext uri="{FF2B5EF4-FFF2-40B4-BE49-F238E27FC236}">
                <a16:creationId xmlns:a16="http://schemas.microsoft.com/office/drawing/2014/main" id="{81B15575-45F3-B945-95AE-F5EA7EEB2382}"/>
              </a:ext>
            </a:extLst>
          </p:cNvPr>
          <p:cNvSpPr/>
          <p:nvPr userDrawn="1"/>
        </p:nvSpPr>
        <p:spPr>
          <a:xfrm>
            <a:off x="3870251" y="0"/>
            <a:ext cx="8321749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E4161-4A00-5044-9128-8CF67E3115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9165" y="5940036"/>
            <a:ext cx="3061754" cy="493831"/>
          </a:xfrm>
          <a:prstGeom prst="rect">
            <a:avLst/>
          </a:prstGeom>
        </p:spPr>
      </p:pic>
      <p:sp>
        <p:nvSpPr>
          <p:cNvPr id="15" name="Title 7"/>
          <p:cNvSpPr>
            <a:spLocks noGrp="1"/>
          </p:cNvSpPr>
          <p:nvPr>
            <p:ph type="title" hasCustomPrompt="1"/>
          </p:nvPr>
        </p:nvSpPr>
        <p:spPr>
          <a:xfrm>
            <a:off x="4852727" y="1392762"/>
            <a:ext cx="6304549" cy="171677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 algn="ctr">
              <a:defRPr lang="uk-UA" sz="5867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pl-PL"/>
              <a:t>Presentation t</a:t>
            </a:r>
            <a:r>
              <a:rPr lang="en-US" err="1"/>
              <a:t>itle</a:t>
            </a:r>
            <a:r>
              <a:rPr lang="en-US"/>
              <a:t> </a:t>
            </a:r>
            <a:br>
              <a:rPr lang="en-US"/>
            </a:br>
            <a:r>
              <a:rPr lang="en-US"/>
              <a:t>goes here</a:t>
            </a:r>
            <a:endParaRPr lang="uk-UA"/>
          </a:p>
        </p:txBody>
      </p:sp>
      <p:sp>
        <p:nvSpPr>
          <p:cNvPr id="21" name="Symbol zastępczy tekstu 20"/>
          <p:cNvSpPr>
            <a:spLocks noGrp="1"/>
          </p:cNvSpPr>
          <p:nvPr>
            <p:ph type="body" sz="quarter" idx="13" hasCustomPrompt="1"/>
          </p:nvPr>
        </p:nvSpPr>
        <p:spPr>
          <a:xfrm>
            <a:off x="6316701" y="3628193"/>
            <a:ext cx="3304117" cy="1411816"/>
          </a:xfrm>
          <a:prstGeom prst="rect">
            <a:avLst/>
          </a:prstGeom>
        </p:spPr>
        <p:txBody>
          <a:bodyPr lIns="90704" tIns="45352" rIns="90704" bIns="45352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  <a:lvl2pPr marL="453541" indent="0">
              <a:buFontTx/>
              <a:buNone/>
              <a:defRPr sz="2933" baseline="0">
                <a:solidFill>
                  <a:schemeClr val="tx2"/>
                </a:solidFill>
              </a:defRPr>
            </a:lvl2pPr>
            <a:lvl3pPr marL="907083" indent="0">
              <a:buFontTx/>
              <a:buNone/>
              <a:defRPr sz="2933" baseline="0">
                <a:solidFill>
                  <a:schemeClr val="tx2"/>
                </a:solidFill>
              </a:defRPr>
            </a:lvl3pPr>
            <a:lvl4pPr marL="1360625" indent="0">
              <a:buFontTx/>
              <a:buNone/>
              <a:defRPr sz="2933" baseline="0">
                <a:solidFill>
                  <a:schemeClr val="tx2"/>
                </a:solidFill>
              </a:defRPr>
            </a:lvl4pPr>
            <a:lvl5pPr marL="1814167" indent="0">
              <a:buFontTx/>
              <a:buNone/>
              <a:defRPr sz="2933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 err="1"/>
              <a:t>Date</a:t>
            </a:r>
            <a:r>
              <a:rPr lang="pl-PL"/>
              <a:t> </a:t>
            </a:r>
            <a:r>
              <a:rPr lang="pl-PL" err="1"/>
              <a:t>goes</a:t>
            </a:r>
            <a:r>
              <a:rPr lang="pl-PL"/>
              <a:t> </a:t>
            </a:r>
            <a:r>
              <a:rPr lang="pl-PL" err="1"/>
              <a:t>here</a:t>
            </a:r>
            <a:endParaRPr lang="pl-PL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2A9AAEC-2B60-954B-96DD-3A14026F32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870325" cy="6858000"/>
          </a:xfrm>
          <a:prstGeom prst="rect">
            <a:avLst/>
          </a:prstGeom>
        </p:spPr>
        <p:txBody>
          <a:bodyPr lIns="90704" tIns="45352" rIns="90704" bIns="45352"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05941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7">
            <a:extLst>
              <a:ext uri="{FF2B5EF4-FFF2-40B4-BE49-F238E27FC236}">
                <a16:creationId xmlns:a16="http://schemas.microsoft.com/office/drawing/2014/main" id="{DCB63A60-0A2F-DB4D-B049-C7C4FF8ED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397" y="546557"/>
            <a:ext cx="10645935" cy="50708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>
              <a:defRPr lang="uk-UA" sz="30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en-US"/>
              <a:t>Title goes here</a:t>
            </a:r>
            <a:endParaRPr lang="uk-UA"/>
          </a:p>
        </p:txBody>
      </p:sp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CACEC802-F2DC-9F49-B96D-08F142BA932A}"/>
              </a:ext>
            </a:extLst>
          </p:cNvPr>
          <p:cNvCxnSpPr/>
          <p:nvPr userDrawn="1"/>
        </p:nvCxnSpPr>
        <p:spPr>
          <a:xfrm>
            <a:off x="469901" y="457200"/>
            <a:ext cx="0" cy="6858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">
            <a:extLst>
              <a:ext uri="{FF2B5EF4-FFF2-40B4-BE49-F238E27FC236}">
                <a16:creationId xmlns:a16="http://schemas.microsoft.com/office/drawing/2014/main" id="{53F1C73B-9C31-DB47-9899-36D06AE8543C}"/>
              </a:ext>
            </a:extLst>
          </p:cNvPr>
          <p:cNvCxnSpPr/>
          <p:nvPr userDrawn="1"/>
        </p:nvCxnSpPr>
        <p:spPr>
          <a:xfrm>
            <a:off x="469901" y="6124657"/>
            <a:ext cx="0" cy="4953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5F9D735-6908-534F-80BC-360625B39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053" y="6124657"/>
            <a:ext cx="1604152" cy="483664"/>
          </a:xfrm>
          <a:prstGeom prst="rect">
            <a:avLst/>
          </a:prstGeom>
        </p:spPr>
      </p:pic>
      <p:sp>
        <p:nvSpPr>
          <p:cNvPr id="21" name="Prostokąt 6">
            <a:extLst>
              <a:ext uri="{FF2B5EF4-FFF2-40B4-BE49-F238E27FC236}">
                <a16:creationId xmlns:a16="http://schemas.microsoft.com/office/drawing/2014/main" id="{53E3127C-A33F-8C40-A146-CFE425A7D5CC}"/>
              </a:ext>
            </a:extLst>
          </p:cNvPr>
          <p:cNvSpPr/>
          <p:nvPr userDrawn="1"/>
        </p:nvSpPr>
        <p:spPr>
          <a:xfrm>
            <a:off x="11718789" y="0"/>
            <a:ext cx="473211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22" name="Obraz 9">
            <a:extLst>
              <a:ext uri="{FF2B5EF4-FFF2-40B4-BE49-F238E27FC236}">
                <a16:creationId xmlns:a16="http://schemas.microsoft.com/office/drawing/2014/main" id="{EB4B66BA-85FB-2740-B8B5-E4B5CD2A30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730" y="200665"/>
            <a:ext cx="342333" cy="37714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61A9943-D89F-864D-B1A2-49D9072963BA}"/>
              </a:ext>
            </a:extLst>
          </p:cNvPr>
          <p:cNvSpPr/>
          <p:nvPr userDrawn="1"/>
        </p:nvSpPr>
        <p:spPr>
          <a:xfrm>
            <a:off x="11770366" y="6354321"/>
            <a:ext cx="404248" cy="348383"/>
          </a:xfrm>
          <a:prstGeom prst="rect">
            <a:avLst/>
          </a:prstGeom>
        </p:spPr>
        <p:txBody>
          <a:bodyPr wrap="none" lIns="60469" tIns="30235" rIns="60469" bIns="30235">
            <a:spAutoFit/>
          </a:bodyPr>
          <a:lstStyle/>
          <a:p>
            <a:fld id="{E5B4EB64-54DE-40F8-9354-51A55C032A93}" type="slidenum">
              <a:rPr lang="pl-PL" sz="1867" b="1" smtClean="0">
                <a:solidFill>
                  <a:schemeClr val="bg1"/>
                </a:solidFill>
              </a:rPr>
              <a:pPr/>
              <a:t>‹#›</a:t>
            </a:fld>
            <a:endParaRPr lang="pl-PL" sz="1200"/>
          </a:p>
        </p:txBody>
      </p:sp>
    </p:spTree>
    <p:extLst>
      <p:ext uri="{BB962C8B-B14F-4D97-AF65-F5344CB8AC3E}">
        <p14:creationId xmlns:p14="http://schemas.microsoft.com/office/powerpoint/2010/main" val="20543448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rostokąt 10">
            <a:extLst>
              <a:ext uri="{FF2B5EF4-FFF2-40B4-BE49-F238E27FC236}">
                <a16:creationId xmlns:a16="http://schemas.microsoft.com/office/drawing/2014/main" id="{8B9F059C-04F3-8746-914A-2F23F849AB26}"/>
              </a:ext>
            </a:extLst>
          </p:cNvPr>
          <p:cNvSpPr/>
          <p:nvPr/>
        </p:nvSpPr>
        <p:spPr>
          <a:xfrm>
            <a:off x="1" y="0"/>
            <a:ext cx="7088373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sp>
        <p:nvSpPr>
          <p:cNvPr id="34" name="Picture Placeholder 38">
            <a:extLst>
              <a:ext uri="{FF2B5EF4-FFF2-40B4-BE49-F238E27FC236}">
                <a16:creationId xmlns:a16="http://schemas.microsoft.com/office/drawing/2014/main" id="{C3DEE2CE-5ADA-914A-A6D4-402AC05FF6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8372" y="0"/>
            <a:ext cx="5103629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5E7584-F5F1-A84A-8BA2-03533636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72" y="5130009"/>
            <a:ext cx="3816431" cy="615554"/>
          </a:xfrm>
          <a:prstGeom prst="rect">
            <a:avLst/>
          </a:prstGeom>
        </p:spPr>
      </p:pic>
      <p:sp>
        <p:nvSpPr>
          <p:cNvPr id="28" name="pole tekstowe 1">
            <a:extLst>
              <a:ext uri="{FF2B5EF4-FFF2-40B4-BE49-F238E27FC236}">
                <a16:creationId xmlns:a16="http://schemas.microsoft.com/office/drawing/2014/main" id="{1EBCD86C-CC45-DE44-BB25-964DCBBDDEA4}"/>
              </a:ext>
            </a:extLst>
          </p:cNvPr>
          <p:cNvSpPr txBox="1"/>
          <p:nvPr/>
        </p:nvSpPr>
        <p:spPr>
          <a:xfrm>
            <a:off x="2125234" y="1944817"/>
            <a:ext cx="3303045" cy="738169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+mj-lt"/>
              </a:rPr>
              <a:t>Thank you</a:t>
            </a:r>
            <a:endParaRPr lang="pl-PL" sz="4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pole tekstowe 1">
            <a:extLst>
              <a:ext uri="{FF2B5EF4-FFF2-40B4-BE49-F238E27FC236}">
                <a16:creationId xmlns:a16="http://schemas.microsoft.com/office/drawing/2014/main" id="{C8ECBCAB-DBDC-2F41-A995-8A39A948BEC0}"/>
              </a:ext>
            </a:extLst>
          </p:cNvPr>
          <p:cNvSpPr txBox="1"/>
          <p:nvPr/>
        </p:nvSpPr>
        <p:spPr>
          <a:xfrm>
            <a:off x="2141543" y="2565005"/>
            <a:ext cx="3779161" cy="604927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pl-PL" sz="3534">
                <a:solidFill>
                  <a:schemeClr val="bg1"/>
                </a:solidFill>
              </a:rPr>
              <a:t>for </a:t>
            </a:r>
            <a:r>
              <a:rPr lang="pl-PL" sz="3534" err="1">
                <a:solidFill>
                  <a:schemeClr val="bg1"/>
                </a:solidFill>
              </a:rPr>
              <a:t>your</a:t>
            </a:r>
            <a:r>
              <a:rPr lang="pl-PL" sz="3534">
                <a:solidFill>
                  <a:schemeClr val="bg1"/>
                </a:solidFill>
              </a:rPr>
              <a:t> </a:t>
            </a:r>
            <a:r>
              <a:rPr lang="pl-PL" sz="3534" err="1">
                <a:solidFill>
                  <a:schemeClr val="bg1"/>
                </a:solidFill>
              </a:rPr>
              <a:t>time</a:t>
            </a:r>
            <a:endParaRPr lang="pl-PL" sz="3534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7458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A714-2835-4A48-BCC2-C29C0BC5F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11406-C609-4B81-B74D-427141F19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95E70-5074-44A3-8B53-F3F108C6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C52B9-772F-4049-ACA7-65720A66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791CE-744A-41EE-8633-68D7D2FC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73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8DA0-B406-4498-9A8E-A790135D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B096F-C57B-4530-80D2-8F58EF78B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C433D-FE14-4137-953E-50A3B9F2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8F154-F7B0-4986-9CA3-ED8317F3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D5D86-BBBC-427A-BAF7-9C7C5388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1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88DB-B53C-4B4A-8DC4-F111B8A1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B02C7-13A8-4A8B-AEA5-B28C117BC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8D4FE-782B-4C64-B6DD-99E70C6D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13E1C-9157-4E47-9451-8CE6DFF6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F269-2CFC-4481-8FE8-0F1EFF57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24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49EE-3B59-4F5F-8086-75CD3270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144AC-1BEA-48A5-8DF9-8DA730900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B5BA7-6B21-4BA2-BC0A-9B1B7F264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AA842-7A98-4ACF-9DE7-187DA01E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C8B99-532C-41EA-833A-C90F25BAB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84B4D-0DCF-4954-9FA5-E2AB4FE3B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17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572D-ECDC-4670-AD96-4F570265A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FC1AC-A7F5-4952-B13B-697324CC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6D54-D2F2-4DA8-81DC-B88F67C5B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84E9D-B094-45FD-8D3B-E1B7BAAA8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E6CC8-474C-491F-83D0-5AB4A7A3B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68F05-C55A-498C-9397-CE223842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AAA4A-0C5A-463B-9DB2-19637204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847B54-08DA-466D-9D22-29307B80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51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5A84-6DD9-4DFE-8D01-C0BD509E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FE369-C4F4-48A3-BAA2-BA2A3558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2F975-1EEB-44C2-87A7-DDB95EB8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3CA3E-5B74-4D5B-BF59-EAA7AB89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79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7A9B8-3CC6-4A30-845E-AD95B81D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2D6D3-00CB-49BC-87BA-42480892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CF291-C6E2-4CF1-B8FD-8729FDEE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06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837E-3658-423D-AAB0-EDE686C6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DC390-49EB-4CE9-ACDA-8A1DF96F6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5A70E-A4C8-4E27-84E8-6AA062988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C88A6-B9F2-41D2-AB95-0443A0B5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B77FB-94DE-4F65-8EDF-EAB096D0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CB576-2092-4839-B4B8-BB0D272D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731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FD19-A425-4758-BACC-759FD506B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E4433-5522-4D28-9332-3D09767B1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6767D-A22F-477D-8221-2C4D97F3D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73B46-9D28-4E8C-B0AA-7642DB9A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D4D31-AD67-4074-9B00-F2F0FE17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CCC66-62AC-4E81-B8E4-D0C6DC30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68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C4C2-7686-4440-90A3-BFF5DDFC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3B3A6-6C49-47BA-8C8C-6E6E82DC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DF99D-BCF5-4FCC-B806-8F4AB4EA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92FE-1086-4E42-B3B7-80B598EF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BA2A7-6D53-41DB-B52E-939B28D9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420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6A2DF-C98E-4E86-B9BA-B8FC92033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E3061-2DAD-433C-8EE4-DF56A8E04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5D294-FC22-4AAA-BA3C-58230801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A5ECB-A95F-428B-969C-37A21A5B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22BE-6381-4D93-A216-BA7A6437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89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4BE92-389B-0341-B6CB-DFC75319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CFD36-B6E1-3D46-871A-AE04116A7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4BFA8-1493-1B43-A896-2DD3D63C9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602DB-A231-A441-8A07-2D9F5DA83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0E97-533E-584C-B315-8B57D7564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66C712-857C-479F-92E4-40B878C7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D3F63-14C7-4531-8378-1960A9B8E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AFB6F-F146-4F56-92FD-AB7494471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54628-9295-4774-99A6-984D00D18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421E7-D771-4211-94E2-4832E0129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2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finance.yahoo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9D4C6A2-4704-483C-8547-C1FE9EFC822A}"/>
              </a:ext>
            </a:extLst>
          </p:cNvPr>
          <p:cNvSpPr/>
          <p:nvPr/>
        </p:nvSpPr>
        <p:spPr>
          <a:xfrm rot="5400000">
            <a:off x="5804584" y="600108"/>
            <a:ext cx="6857999" cy="5775016"/>
          </a:xfrm>
          <a:prstGeom prst="rect">
            <a:avLst/>
          </a:prstGeom>
          <a:solidFill>
            <a:srgbClr val="855A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7F5B049-A841-4C9F-8C26-26BD2A3EE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459" y="5365019"/>
            <a:ext cx="3738078" cy="128151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B29CE65-7EF9-42B9-A7AE-8FD3F3896D7F}"/>
              </a:ext>
            </a:extLst>
          </p:cNvPr>
          <p:cNvSpPr txBox="1"/>
          <p:nvPr/>
        </p:nvSpPr>
        <p:spPr>
          <a:xfrm>
            <a:off x="7250464" y="865848"/>
            <a:ext cx="4361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43676789-A9FA-1E76-46EE-BB05CB6B1794}"/>
              </a:ext>
            </a:extLst>
          </p:cNvPr>
          <p:cNvSpPr txBox="1"/>
          <p:nvPr/>
        </p:nvSpPr>
        <p:spPr>
          <a:xfrm>
            <a:off x="7250463" y="916089"/>
            <a:ext cx="4565779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solidFill>
                  <a:schemeClr val="bg1"/>
                </a:solidFill>
              </a:rPr>
              <a:t>TEAM AURORA</a:t>
            </a:r>
            <a:endParaRPr lang="en-US" sz="3200">
              <a:solidFill>
                <a:schemeClr val="bg1"/>
              </a:solidFill>
              <a:cs typeface="Calibri"/>
            </a:endParaRPr>
          </a:p>
          <a:p>
            <a:pPr algn="ctr"/>
            <a:r>
              <a:rPr lang="en-US" sz="2000">
                <a:solidFill>
                  <a:schemeClr val="bg1"/>
                </a:solidFill>
              </a:rPr>
              <a:t>“None of us is as smart as all of us”</a:t>
            </a:r>
            <a:endParaRPr lang="en-US" sz="2000">
              <a:solidFill>
                <a:schemeClr val="bg1"/>
              </a:solidFill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4F456-DB9E-733A-9E62-45242186CCD2}"/>
              </a:ext>
            </a:extLst>
          </p:cNvPr>
          <p:cNvSpPr txBox="1"/>
          <p:nvPr/>
        </p:nvSpPr>
        <p:spPr>
          <a:xfrm>
            <a:off x="1725987" y="3749693"/>
            <a:ext cx="346956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Done By </a:t>
            </a:r>
            <a:endParaRPr lang="en-US" sz="3200">
              <a:solidFill>
                <a:srgbClr val="7030A0"/>
              </a:solidFill>
              <a:cs typeface="Calibri"/>
            </a:endParaRPr>
          </a:p>
          <a:p>
            <a:r>
              <a:rPr lang="en-US" sz="3200" dirty="0">
                <a:solidFill>
                  <a:srgbClr val="7030A0"/>
                </a:solidFill>
              </a:rPr>
              <a:t>        Mani Maran V</a:t>
            </a:r>
            <a:endParaRPr lang="en-US" sz="3200" dirty="0">
              <a:solidFill>
                <a:srgbClr val="7030A0"/>
              </a:solidFill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9C8C1-C301-292A-DD65-C76BB9E41736}"/>
              </a:ext>
            </a:extLst>
          </p:cNvPr>
          <p:cNvSpPr txBox="1"/>
          <p:nvPr/>
        </p:nvSpPr>
        <p:spPr>
          <a:xfrm>
            <a:off x="6954797" y="3192856"/>
            <a:ext cx="52174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Calibri"/>
              </a:rPr>
              <a:t>Webpage Request Life Cycle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B601C271-5100-AB9A-FC15-ACC2EAEE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62" y="1229138"/>
            <a:ext cx="4036827" cy="168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197" y="609626"/>
            <a:ext cx="10645935" cy="497791"/>
          </a:xfrm>
        </p:spPr>
        <p:txBody>
          <a:bodyPr/>
          <a:lstStyle/>
          <a:p>
            <a:r>
              <a:rPr lang="en-US" sz="2900" dirty="0" err="1">
                <a:latin typeface="Calibri"/>
                <a:cs typeface="Calibri"/>
              </a:rPr>
              <a:t>WebPage</a:t>
            </a:r>
            <a:r>
              <a:rPr lang="en-US" sz="2900" dirty="0">
                <a:latin typeface="Calibri"/>
                <a:cs typeface="Calibri"/>
              </a:rPr>
              <a:t> Request Life Cycle</a:t>
            </a: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BD0FB-47F5-9211-FBD0-589567EC1A05}"/>
              </a:ext>
            </a:extLst>
          </p:cNvPr>
          <p:cNvSpPr txBox="1"/>
          <p:nvPr/>
        </p:nvSpPr>
        <p:spPr>
          <a:xfrm>
            <a:off x="534216" y="1105359"/>
            <a:ext cx="1073163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i="1"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A web server reads and interprets URLs and HTTP requests so that it can, in turn, serve up static files to the client in response (HTML, CSS, JavaScript, and image files).</a:t>
            </a:r>
            <a:endParaRPr lang="en-US" dirty="0"/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b="1" dirty="0">
                <a:cs typeface="Calibri"/>
              </a:rPr>
              <a:t>URL: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 URL - Uniform Resource Locator, consists of the following: protocol, domain, port, path, and a query string.</a:t>
            </a:r>
            <a:endParaRPr lang="en-US" dirty="0"/>
          </a:p>
          <a:p>
            <a:endParaRPr lang="en-US" b="1">
              <a:cs typeface="Calibri"/>
            </a:endParaRPr>
          </a:p>
          <a:p>
            <a:endParaRPr lang="en-US" b="1" dirty="0">
              <a:cs typeface="Calibri"/>
            </a:endParaRPr>
          </a:p>
          <a:p>
            <a:endParaRPr lang="en-US" i="1" dirty="0">
              <a:cs typeface="Calibri"/>
            </a:endParaRPr>
          </a:p>
          <a:p>
            <a:endParaRPr lang="en-US" b="1">
              <a:cs typeface="Calibri"/>
            </a:endParaRPr>
          </a:p>
          <a:p>
            <a:endParaRPr lang="en-US">
              <a:cs typeface="Calibri"/>
            </a:endParaRPr>
          </a:p>
        </p:txBody>
      </p:sp>
      <p:pic>
        <p:nvPicPr>
          <p:cNvPr id="5" name="Picture 5" descr="Timeline&#10;&#10;Description automatically generated">
            <a:extLst>
              <a:ext uri="{FF2B5EF4-FFF2-40B4-BE49-F238E27FC236}">
                <a16:creationId xmlns:a16="http://schemas.microsoft.com/office/drawing/2014/main" id="{8B5A1658-1742-2CBE-692F-DC4439508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63" y="3666519"/>
            <a:ext cx="9982199" cy="188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8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755" y="458998"/>
            <a:ext cx="9777610" cy="338303"/>
          </a:xfrm>
        </p:spPr>
        <p:txBody>
          <a:bodyPr/>
          <a:lstStyle/>
          <a:p>
            <a:r>
              <a:rPr lang="en-US" sz="2900" dirty="0" err="1">
                <a:latin typeface="Calibri"/>
                <a:cs typeface="Calibri"/>
              </a:rPr>
              <a:t>WebPage</a:t>
            </a:r>
            <a:r>
              <a:rPr lang="en-US" sz="2900" dirty="0">
                <a:latin typeface="Calibri"/>
                <a:cs typeface="Calibri"/>
              </a:rPr>
              <a:t> Request Life Cycle</a:t>
            </a: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BD0FB-47F5-9211-FBD0-589567EC1A05}"/>
              </a:ext>
            </a:extLst>
          </p:cNvPr>
          <p:cNvSpPr txBox="1"/>
          <p:nvPr/>
        </p:nvSpPr>
        <p:spPr>
          <a:xfrm>
            <a:off x="534216" y="1105359"/>
            <a:ext cx="1073163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4" name="Picture 5" descr="Diagram&#10;&#10;Description automatically generated">
            <a:extLst>
              <a:ext uri="{FF2B5EF4-FFF2-40B4-BE49-F238E27FC236}">
                <a16:creationId xmlns:a16="http://schemas.microsoft.com/office/drawing/2014/main" id="{E5BA1372-93CD-A0C8-BF26-B3DAC150E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40" y="868346"/>
            <a:ext cx="11568222" cy="525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7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755" y="458998"/>
            <a:ext cx="9777610" cy="338303"/>
          </a:xfrm>
        </p:spPr>
        <p:txBody>
          <a:bodyPr/>
          <a:lstStyle/>
          <a:p>
            <a:r>
              <a:rPr lang="en-US" sz="2900" dirty="0" err="1">
                <a:latin typeface="Calibri"/>
                <a:cs typeface="Calibri"/>
              </a:rPr>
              <a:t>WebPage</a:t>
            </a:r>
            <a:r>
              <a:rPr lang="en-US" sz="2900" dirty="0">
                <a:latin typeface="Calibri"/>
                <a:cs typeface="Calibri"/>
              </a:rPr>
              <a:t> Request Life Cycle</a:t>
            </a: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BD0FB-47F5-9211-FBD0-589567EC1A05}"/>
              </a:ext>
            </a:extLst>
          </p:cNvPr>
          <p:cNvSpPr txBox="1"/>
          <p:nvPr/>
        </p:nvSpPr>
        <p:spPr>
          <a:xfrm>
            <a:off x="534216" y="1105359"/>
            <a:ext cx="10731639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User type web address </a:t>
            </a:r>
            <a:r>
              <a:rPr lang="en-US" dirty="0">
                <a:ea typeface="+mn-lt"/>
                <a:cs typeface="+mn-lt"/>
                <a:hlinkClick r:id="rId3"/>
              </a:rPr>
              <a:t>http://finance.yahoo.com</a:t>
            </a:r>
            <a:r>
              <a:rPr lang="en-US" dirty="0">
                <a:ea typeface="+mn-lt"/>
                <a:cs typeface="+mn-lt"/>
              </a:rPr>
              <a:t> and hit Enter from </a:t>
            </a:r>
            <a:r>
              <a:rPr lang="en-US" b="1" dirty="0">
                <a:ea typeface="+mn-lt"/>
                <a:cs typeface="+mn-lt"/>
              </a:rPr>
              <a:t>User’s Computer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User would see status bar like this: “finding site: finance.yahoo.com”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Check Cache(if IP address for </a:t>
            </a:r>
            <a:r>
              <a:rPr lang="en-US" dirty="0">
                <a:ea typeface="+mn-lt"/>
                <a:cs typeface="+mn-lt"/>
                <a:hlinkClick r:id="rId3"/>
              </a:rPr>
              <a:t>http://finance.yahoo.com</a:t>
            </a:r>
            <a:r>
              <a:rPr lang="en-US" dirty="0">
                <a:ea typeface="+mn-lt"/>
                <a:cs typeface="+mn-lt"/>
              </a:rPr>
              <a:t> is available then go to #15.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Query from </a:t>
            </a:r>
            <a:r>
              <a:rPr lang="en-US" b="1" dirty="0">
                <a:ea typeface="+mn-lt"/>
                <a:cs typeface="+mn-lt"/>
              </a:rPr>
              <a:t>User’s Computer</a:t>
            </a:r>
            <a:r>
              <a:rPr lang="en-US" dirty="0">
                <a:ea typeface="+mn-lt"/>
                <a:cs typeface="+mn-lt"/>
              </a:rPr>
              <a:t> to </a:t>
            </a:r>
            <a:r>
              <a:rPr lang="en-US" b="1" dirty="0">
                <a:ea typeface="+mn-lt"/>
                <a:cs typeface="+mn-lt"/>
              </a:rPr>
              <a:t>Internet Service Provider (at  192.168.1.100)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Check Cache(if yes then go to #14.)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Query  from </a:t>
            </a:r>
            <a:r>
              <a:rPr lang="en-US" b="1" dirty="0">
                <a:ea typeface="+mn-lt"/>
                <a:cs typeface="+mn-lt"/>
              </a:rPr>
              <a:t>Internet Service Provider</a:t>
            </a:r>
            <a:r>
              <a:rPr lang="en-US" dirty="0">
                <a:ea typeface="+mn-lt"/>
                <a:cs typeface="+mn-lt"/>
              </a:rPr>
              <a:t> to </a:t>
            </a:r>
            <a:r>
              <a:rPr lang="en-US" b="1" dirty="0">
                <a:ea typeface="+mn-lt"/>
                <a:cs typeface="+mn-lt"/>
              </a:rPr>
              <a:t>Internet Root Server (at 192.5.5.241)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Response from </a:t>
            </a:r>
            <a:r>
              <a:rPr lang="en-US" b="1" dirty="0">
                <a:ea typeface="+mn-lt"/>
                <a:cs typeface="+mn-lt"/>
              </a:rPr>
              <a:t>Internet Root Server</a:t>
            </a:r>
            <a:r>
              <a:rPr lang="en-US" dirty="0">
                <a:ea typeface="+mn-lt"/>
                <a:cs typeface="+mn-lt"/>
              </a:rPr>
              <a:t> to </a:t>
            </a:r>
            <a:r>
              <a:rPr lang="en-US" b="1" dirty="0">
                <a:ea typeface="+mn-lt"/>
                <a:cs typeface="+mn-lt"/>
              </a:rPr>
              <a:t>Internet Service Provider (GO TO  192.35.51.30)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Query from </a:t>
            </a:r>
            <a:r>
              <a:rPr lang="en-US" b="1" dirty="0">
                <a:ea typeface="+mn-lt"/>
                <a:cs typeface="+mn-lt"/>
              </a:rPr>
              <a:t>Internet Service Provider</a:t>
            </a:r>
            <a:r>
              <a:rPr lang="en-US" dirty="0">
                <a:ea typeface="+mn-lt"/>
                <a:cs typeface="+mn-lt"/>
              </a:rPr>
              <a:t> to </a:t>
            </a:r>
            <a:r>
              <a:rPr lang="en-US" b="1" dirty="0">
                <a:ea typeface="+mn-lt"/>
                <a:cs typeface="+mn-lt"/>
              </a:rPr>
              <a:t>*.com Server(at 192.35.51.30)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Response from </a:t>
            </a:r>
            <a:r>
              <a:rPr lang="en-US" b="1" dirty="0">
                <a:ea typeface="+mn-lt"/>
                <a:cs typeface="+mn-lt"/>
              </a:rPr>
              <a:t>*.com Server</a:t>
            </a:r>
            <a:r>
              <a:rPr lang="en-US" dirty="0">
                <a:ea typeface="+mn-lt"/>
                <a:cs typeface="+mn-lt"/>
              </a:rPr>
              <a:t> to </a:t>
            </a:r>
            <a:r>
              <a:rPr lang="en-US" b="1" dirty="0">
                <a:ea typeface="+mn-lt"/>
                <a:cs typeface="+mn-lt"/>
              </a:rPr>
              <a:t>Internet Service Provider (GO TO  216.109.112.135)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Query from </a:t>
            </a:r>
            <a:r>
              <a:rPr lang="en-US" b="1" dirty="0">
                <a:ea typeface="+mn-lt"/>
                <a:cs typeface="+mn-lt"/>
              </a:rPr>
              <a:t>Internet Service Provider </a:t>
            </a:r>
            <a:r>
              <a:rPr lang="en-US" dirty="0">
                <a:ea typeface="+mn-lt"/>
                <a:cs typeface="+mn-lt"/>
              </a:rPr>
              <a:t>to </a:t>
            </a:r>
            <a:r>
              <a:rPr lang="en-US" b="1" dirty="0">
                <a:ea typeface="+mn-lt"/>
                <a:cs typeface="+mn-lt"/>
              </a:rPr>
              <a:t>*.yahoo.com server (at 216.109.112.135)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Response from </a:t>
            </a:r>
            <a:r>
              <a:rPr lang="en-US" b="1" dirty="0">
                <a:ea typeface="+mn-lt"/>
                <a:cs typeface="+mn-lt"/>
              </a:rPr>
              <a:t>*.yahoo.com server</a:t>
            </a:r>
            <a:r>
              <a:rPr lang="en-US" dirty="0">
                <a:ea typeface="+mn-lt"/>
                <a:cs typeface="+mn-lt"/>
              </a:rPr>
              <a:t> to </a:t>
            </a:r>
            <a:r>
              <a:rPr lang="en-US" b="1" dirty="0">
                <a:ea typeface="+mn-lt"/>
                <a:cs typeface="+mn-lt"/>
              </a:rPr>
              <a:t>Internet Service Provider(GO TO 206.190.56.229)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Query from </a:t>
            </a:r>
            <a:r>
              <a:rPr lang="en-US" b="1" dirty="0">
                <a:ea typeface="+mn-lt"/>
                <a:cs typeface="+mn-lt"/>
              </a:rPr>
              <a:t>Internet Service Provider</a:t>
            </a:r>
            <a:r>
              <a:rPr lang="en-US" dirty="0">
                <a:ea typeface="+mn-lt"/>
                <a:cs typeface="+mn-lt"/>
              </a:rPr>
              <a:t> to </a:t>
            </a:r>
            <a:r>
              <a:rPr lang="en-US" b="1" dirty="0">
                <a:ea typeface="+mn-lt"/>
                <a:cs typeface="+mn-lt"/>
              </a:rPr>
              <a:t>finance.yahoo.com server (at 206.190.56.229)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Response from </a:t>
            </a:r>
            <a:r>
              <a:rPr lang="en-US" b="1" dirty="0">
                <a:ea typeface="+mn-lt"/>
                <a:cs typeface="+mn-lt"/>
              </a:rPr>
              <a:t>finance.yahoo.com server</a:t>
            </a:r>
            <a:r>
              <a:rPr lang="en-US" dirty="0">
                <a:ea typeface="+mn-lt"/>
                <a:cs typeface="+mn-lt"/>
              </a:rPr>
              <a:t>  to </a:t>
            </a:r>
            <a:r>
              <a:rPr lang="en-US" b="1" dirty="0">
                <a:ea typeface="+mn-lt"/>
                <a:cs typeface="+mn-lt"/>
              </a:rPr>
              <a:t>Internet Service Provider at 192.168.1.100 (Yes, I am here)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DNS Response from </a:t>
            </a:r>
            <a:r>
              <a:rPr lang="en-US" b="1" dirty="0">
                <a:ea typeface="+mn-lt"/>
                <a:cs typeface="+mn-lt"/>
              </a:rPr>
              <a:t>Internet Service Provider</a:t>
            </a:r>
            <a:r>
              <a:rPr lang="en-US" dirty="0">
                <a:ea typeface="+mn-lt"/>
                <a:cs typeface="+mn-lt"/>
              </a:rPr>
              <a:t> to </a:t>
            </a:r>
            <a:r>
              <a:rPr lang="en-US" b="1" dirty="0">
                <a:ea typeface="+mn-lt"/>
                <a:cs typeface="+mn-lt"/>
              </a:rPr>
              <a:t>User’s Computer (IP is 206.190.56.229)</a:t>
            </a:r>
            <a:endParaRPr lang="en-US" dirty="0">
              <a:cs typeface="Calibri" panose="020F0502020204030204"/>
            </a:endParaRPr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en-US" dirty="0">
              <a:cs typeface="Calibri"/>
            </a:endParaRPr>
          </a:p>
          <a:p>
            <a:pPr marL="342900" indent="-342900">
              <a:buAutoNum type="arabicPeriod"/>
            </a:pPr>
            <a:br>
              <a:rPr lang="en-US" dirty="0"/>
            </a:br>
            <a:endParaRPr lang="en-US" dirty="0">
              <a:cs typeface="Calibri" panose="020F050202020403020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11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197" y="609626"/>
            <a:ext cx="10645935" cy="497791"/>
          </a:xfrm>
        </p:spPr>
        <p:txBody>
          <a:bodyPr/>
          <a:lstStyle/>
          <a:p>
            <a:r>
              <a:rPr lang="en-US" sz="2900" dirty="0" err="1">
                <a:latin typeface="Calibri"/>
                <a:cs typeface="Calibri"/>
              </a:rPr>
              <a:t>WebPage</a:t>
            </a:r>
            <a:r>
              <a:rPr lang="en-US" sz="2900" dirty="0">
                <a:latin typeface="Calibri"/>
                <a:cs typeface="Calibri"/>
              </a:rPr>
              <a:t> Request Life Cycle</a:t>
            </a: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BD0FB-47F5-9211-FBD0-589567EC1A05}"/>
              </a:ext>
            </a:extLst>
          </p:cNvPr>
          <p:cNvSpPr txBox="1"/>
          <p:nvPr/>
        </p:nvSpPr>
        <p:spPr>
          <a:xfrm>
            <a:off x="534216" y="1105359"/>
            <a:ext cx="1073163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Web Browser submits the request to the server after creating a socket in local progress.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http server waits for the request to come on socket i.e. port-80.</a:t>
            </a:r>
            <a:endParaRPr 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web browser translates the yahoo.com to an IP address if it does not knows it.</a:t>
            </a:r>
            <a:endParaRPr 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If the web browser does not recognize the address it contacts a DNS Server to resolve the name.</a:t>
            </a:r>
            <a:endParaRPr 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browser will open a TCP connection to the IP address of yahoo.com and send a HTTP GET request over.</a:t>
            </a:r>
            <a:endParaRPr 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request is then submitted to DNS server where IP address is fetched based on domain name.</a:t>
            </a:r>
            <a:endParaRPr 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Now the request is submitted to Http Server as per HTTP protocol.</a:t>
            </a:r>
            <a:endParaRPr 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Http server receives the request and shifts the client to another socket.</a:t>
            </a:r>
            <a:endParaRPr 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So the socket on port-80 is released to receive request from other clients.</a:t>
            </a:r>
            <a:endParaRPr 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Web Browser &amp; server both are connected to each other.</a:t>
            </a:r>
            <a:endParaRPr 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server will process the request, renders the response &amp; breaks the connection.</a:t>
            </a:r>
            <a:endParaRPr lang="en-US">
              <a:cs typeface="Calibri" panose="020F0502020204030204"/>
            </a:endParaRP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98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8D2ABBC-7F98-0B80-6061-F51C056E0E2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l="11013" r="11013"/>
          <a:stretch/>
        </p:blipFill>
        <p:spPr>
          <a:xfrm>
            <a:off x="6475055" y="-170772"/>
            <a:ext cx="5716946" cy="7199543"/>
          </a:xfrm>
        </p:spPr>
      </p:pic>
    </p:spTree>
    <p:extLst>
      <p:ext uri="{BB962C8B-B14F-4D97-AF65-F5344CB8AC3E}">
        <p14:creationId xmlns:p14="http://schemas.microsoft.com/office/powerpoint/2010/main" val="301217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Office Theme</vt:lpstr>
      <vt:lpstr>PowerPoint Presentation</vt:lpstr>
      <vt:lpstr>WebPage Request Life Cycle</vt:lpstr>
      <vt:lpstr>WebPage Request Life Cycle</vt:lpstr>
      <vt:lpstr>WebPage Request Life Cycle</vt:lpstr>
      <vt:lpstr>WebPage Request Life Cycle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Synergy</dc:title>
  <dc:creator>Hemalatha Manu Anand</dc:creator>
  <cp:revision>82</cp:revision>
  <dcterms:created xsi:type="dcterms:W3CDTF">2020-06-30T04:13:35Z</dcterms:created>
  <dcterms:modified xsi:type="dcterms:W3CDTF">2022-04-02T04:17:40Z</dcterms:modified>
</cp:coreProperties>
</file>